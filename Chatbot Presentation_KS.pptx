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Red Hat Display" charset="0"/>
      <p:regular r:id="rId22"/>
    </p:embeddedFont>
    <p:embeddedFont>
      <p:font typeface="Calibri" pitchFamily="34" charset="0"/>
      <p:regular r:id="rId23"/>
      <p:bold r:id="rId24"/>
      <p:italic r:id="rId25"/>
      <p:boldItalic r:id="rId26"/>
    </p:embeddedFont>
    <p:embeddedFont>
      <p:font typeface="Archivo Black" charset="0"/>
      <p:regular r:id="rId27"/>
    </p:embeddedFont>
    <p:embeddedFont>
      <p:font typeface="Open Sans Light" charset="0"/>
      <p:regular r:id="rId28"/>
    </p:embeddedFont>
    <p:embeddedFont>
      <p:font typeface="Lato" charset="0"/>
      <p:regular r:id="rId29"/>
    </p:embeddedFont>
    <p:embeddedFont>
      <p:font typeface="Red Hat Display Bold"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8" d="100"/>
          <a:sy n="58" d="100"/>
        </p:scale>
        <p:origin x="-466" y="2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1028700" y="2755601"/>
            <a:ext cx="11695306" cy="3200970"/>
          </a:xfrm>
          <a:prstGeom prst="rect">
            <a:avLst/>
          </a:prstGeom>
        </p:spPr>
        <p:txBody>
          <a:bodyPr lIns="0" tIns="0" rIns="0" bIns="0" rtlCol="0" anchor="t">
            <a:spAutoFit/>
          </a:bodyPr>
          <a:lstStyle/>
          <a:p>
            <a:pPr algn="l">
              <a:lnSpc>
                <a:spcPts val="12218"/>
              </a:lnSpc>
            </a:pPr>
            <a:r>
              <a:rPr lang="en-US" sz="12998">
                <a:solidFill>
                  <a:srgbClr val="FFFFFF"/>
                </a:solidFill>
                <a:latin typeface="Archivo Black"/>
                <a:ea typeface="Archivo Black"/>
                <a:cs typeface="Archivo Black"/>
                <a:sym typeface="Archivo Black"/>
              </a:rPr>
              <a:t>Chatbot Presentation</a:t>
            </a:r>
          </a:p>
        </p:txBody>
      </p:sp>
      <p:sp>
        <p:nvSpPr>
          <p:cNvPr id="4" name="TextBox 4"/>
          <p:cNvSpPr txBox="1"/>
          <p:nvPr/>
        </p:nvSpPr>
        <p:spPr>
          <a:xfrm>
            <a:off x="1076325" y="6622983"/>
            <a:ext cx="8067675" cy="746164"/>
          </a:xfrm>
          <a:prstGeom prst="rect">
            <a:avLst/>
          </a:prstGeom>
        </p:spPr>
        <p:txBody>
          <a:bodyPr lIns="0" tIns="0" rIns="0" bIns="0" rtlCol="0" anchor="t">
            <a:spAutoFit/>
          </a:bodyPr>
          <a:lstStyle/>
          <a:p>
            <a:pPr algn="l">
              <a:lnSpc>
                <a:spcPts val="6122"/>
              </a:lnSpc>
              <a:spcBef>
                <a:spcPct val="0"/>
              </a:spcBef>
            </a:pPr>
            <a:r>
              <a:rPr lang="en-US" sz="4373">
                <a:solidFill>
                  <a:srgbClr val="F4F4ED"/>
                </a:solidFill>
                <a:latin typeface="Red Hat Display"/>
                <a:ea typeface="Red Hat Display"/>
                <a:cs typeface="Red Hat Display"/>
                <a:sym typeface="Red Hat Display"/>
              </a:rPr>
              <a:t>Presented by team TRIDENTS</a:t>
            </a:r>
          </a:p>
        </p:txBody>
      </p:sp>
      <p:sp>
        <p:nvSpPr>
          <p:cNvPr id="6" name="Freeform 6"/>
          <p:cNvSpPr/>
          <p:nvPr/>
        </p:nvSpPr>
        <p:spPr>
          <a:xfrm rot="-1542318" flipV="1">
            <a:off x="13654428" y="80032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3"/>
            <a:stretch>
              <a:fillRect/>
            </a:stretch>
          </a:blipFill>
        </p:spPr>
      </p:sp>
      <p:sp>
        <p:nvSpPr>
          <p:cNvPr id="12" name="TextBox 12"/>
          <p:cNvSpPr txBox="1"/>
          <p:nvPr/>
        </p:nvSpPr>
        <p:spPr>
          <a:xfrm>
            <a:off x="1076325" y="942975"/>
            <a:ext cx="8067675" cy="746164"/>
          </a:xfrm>
          <a:prstGeom prst="rect">
            <a:avLst/>
          </a:prstGeom>
        </p:spPr>
        <p:txBody>
          <a:bodyPr lIns="0" tIns="0" rIns="0" bIns="0" rtlCol="0" anchor="t">
            <a:spAutoFit/>
          </a:bodyPr>
          <a:lstStyle/>
          <a:p>
            <a:pPr algn="l">
              <a:lnSpc>
                <a:spcPts val="6122"/>
              </a:lnSpc>
              <a:spcBef>
                <a:spcPct val="0"/>
              </a:spcBef>
            </a:pPr>
            <a:r>
              <a:rPr lang="en-US" sz="4373">
                <a:solidFill>
                  <a:srgbClr val="E4DA99"/>
                </a:solidFill>
                <a:latin typeface="Red Hat Display"/>
                <a:ea typeface="Red Hat Display"/>
                <a:cs typeface="Red Hat Display"/>
                <a:sym typeface="Red Hat Display"/>
              </a:rPr>
              <a:t>Let’s deduce the why and how....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2347154"/>
            <a:ext cx="13851811" cy="6936631"/>
            <a:chOff x="0" y="0"/>
            <a:chExt cx="18469082" cy="9248842"/>
          </a:xfrm>
        </p:grpSpPr>
        <p:grpSp>
          <p:nvGrpSpPr>
            <p:cNvPr id="5" name="Group 5"/>
            <p:cNvGrpSpPr/>
            <p:nvPr/>
          </p:nvGrpSpPr>
          <p:grpSpPr>
            <a:xfrm>
              <a:off x="0" y="0"/>
              <a:ext cx="18469082" cy="9248842"/>
              <a:chOff x="0" y="0"/>
              <a:chExt cx="3648214" cy="1826932"/>
            </a:xfrm>
          </p:grpSpPr>
          <p:sp>
            <p:nvSpPr>
              <p:cNvPr id="6" name="Freeform 6"/>
              <p:cNvSpPr/>
              <p:nvPr/>
            </p:nvSpPr>
            <p:spPr>
              <a:xfrm>
                <a:off x="0" y="0"/>
                <a:ext cx="3648214" cy="1826932"/>
              </a:xfrm>
              <a:custGeom>
                <a:avLst/>
                <a:gdLst/>
                <a:ahLst/>
                <a:cxnLst/>
                <a:rect l="l" t="t" r="r" b="b"/>
                <a:pathLst>
                  <a:path w="3648214" h="1826932">
                    <a:moveTo>
                      <a:pt x="11178" y="0"/>
                    </a:moveTo>
                    <a:lnTo>
                      <a:pt x="3637035" y="0"/>
                    </a:lnTo>
                    <a:cubicBezTo>
                      <a:pt x="3643209" y="0"/>
                      <a:pt x="3648214" y="5005"/>
                      <a:pt x="3648214" y="11178"/>
                    </a:cubicBezTo>
                    <a:lnTo>
                      <a:pt x="3648214" y="1815754"/>
                    </a:lnTo>
                    <a:cubicBezTo>
                      <a:pt x="3648214" y="1821927"/>
                      <a:pt x="3643209" y="1826932"/>
                      <a:pt x="3637035" y="1826932"/>
                    </a:cubicBezTo>
                    <a:lnTo>
                      <a:pt x="11178" y="1826932"/>
                    </a:lnTo>
                    <a:cubicBezTo>
                      <a:pt x="5005" y="1826932"/>
                      <a:pt x="0" y="1821927"/>
                      <a:pt x="0" y="1815754"/>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3648214" cy="186503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282925" y="1141085"/>
              <a:ext cx="14095560" cy="16332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The Problem:</a:t>
              </a:r>
            </a:p>
          </p:txBody>
        </p:sp>
        <p:sp>
          <p:nvSpPr>
            <p:cNvPr id="9" name="TextBox 9"/>
            <p:cNvSpPr txBox="1"/>
            <p:nvPr/>
          </p:nvSpPr>
          <p:spPr>
            <a:xfrm>
              <a:off x="1282925" y="3013838"/>
              <a:ext cx="12752761" cy="4846321"/>
            </a:xfrm>
            <a:prstGeom prst="rect">
              <a:avLst/>
            </a:prstGeom>
          </p:spPr>
          <p:txBody>
            <a:bodyPr lIns="0" tIns="0" rIns="0" bIns="0" rtlCol="0" anchor="t">
              <a:spAutoFit/>
            </a:bodyPr>
            <a:lstStyle/>
            <a:p>
              <a:pPr marL="0" lvl="0" indent="0" algn="l">
                <a:lnSpc>
                  <a:spcPts val="3644"/>
                </a:lnSpc>
                <a:spcBef>
                  <a:spcPct val="0"/>
                </a:spcBef>
              </a:pPr>
              <a:r>
                <a:rPr lang="en-US" sz="2699" spc="161">
                  <a:solidFill>
                    <a:srgbClr val="FFFFFF"/>
                  </a:solidFill>
                  <a:latin typeface="Red Hat Display"/>
                  <a:ea typeface="Red Hat Display"/>
                  <a:cs typeface="Red Hat Display"/>
                  <a:sym typeface="Red Hat Display"/>
                </a:rPr>
                <a:t>Develop</a:t>
              </a:r>
              <a:r>
                <a:rPr lang="en-US" sz="2699" u="none" spc="161">
                  <a:solidFill>
                    <a:srgbClr val="FFFFFF"/>
                  </a:solidFill>
                  <a:latin typeface="Red Hat Display"/>
                  <a:ea typeface="Red Hat Display"/>
                  <a:cs typeface="Red Hat Display"/>
                  <a:sym typeface="Red Hat Display"/>
                </a:rPr>
                <a:t>ing a fully functional Agentic Chatbot system that showcases autonomous reasoning, planning, and task execution. The system should demonstrate live functionality, effective use of tools or APIs, and the ability to adapt to dynamic inputs. Explain key design decisions, highlight the chatbot’s robustness and scalability, and demonstrate its potential for real-world deployment.</a:t>
              </a:r>
            </a:p>
          </p:txBody>
        </p:sp>
      </p:grpSp>
      <p:sp>
        <p:nvSpPr>
          <p:cNvPr id="10" name="Freeform 10"/>
          <p:cNvSpPr/>
          <p:nvPr/>
        </p:nvSpPr>
        <p:spPr>
          <a:xfrm>
            <a:off x="12271832" y="727092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9537007" y="1408933"/>
            <a:ext cx="7722293" cy="1820868"/>
          </a:xfrm>
          <a:prstGeom prst="rect">
            <a:avLst/>
          </a:prstGeom>
        </p:spPr>
        <p:txBody>
          <a:bodyPr lIns="0" tIns="0" rIns="0" bIns="0" rtlCol="0" anchor="t">
            <a:spAutoFit/>
          </a:bodyPr>
          <a:lstStyle/>
          <a:p>
            <a:pPr marL="0" lvl="0" indent="0" algn="ctr">
              <a:lnSpc>
                <a:spcPts val="3937"/>
              </a:lnSpc>
              <a:spcBef>
                <a:spcPct val="0"/>
              </a:spcBef>
            </a:pPr>
            <a:r>
              <a:rPr lang="en-US" sz="2916" b="1" spc="46">
                <a:solidFill>
                  <a:srgbClr val="FFFFFF"/>
                </a:solidFill>
                <a:latin typeface="Red Hat Display Bold"/>
                <a:ea typeface="Red Hat Display Bold"/>
                <a:cs typeface="Red Hat Display Bold"/>
                <a:sym typeface="Red Hat Display Bold"/>
              </a:rPr>
              <a:t>H</a:t>
            </a:r>
            <a:r>
              <a:rPr lang="en-US" sz="2916" b="1" u="none" spc="46">
                <a:solidFill>
                  <a:srgbClr val="FFFFFF"/>
                </a:solidFill>
                <a:latin typeface="Red Hat Display Bold"/>
                <a:ea typeface="Red Hat Display Bold"/>
                <a:cs typeface="Red Hat Display Bold"/>
                <a:sym typeface="Red Hat Display Bold"/>
              </a:rPr>
              <a:t>igh Relevance &amp; Robustness:</a:t>
            </a:r>
          </a:p>
          <a:p>
            <a:pPr marL="0" lvl="0" indent="0" algn="ctr">
              <a:lnSpc>
                <a:spcPts val="2722"/>
              </a:lnSpc>
              <a:spcBef>
                <a:spcPct val="0"/>
              </a:spcBef>
            </a:pPr>
            <a:endParaRPr lang="en-US" sz="2916" b="1" u="none" spc="46">
              <a:solidFill>
                <a:srgbClr val="FFFFFF"/>
              </a:solidFill>
              <a:latin typeface="Red Hat Display Bold"/>
              <a:ea typeface="Red Hat Display Bold"/>
              <a:cs typeface="Red Hat Display Bold"/>
              <a:sym typeface="Red Hat Display Bold"/>
            </a:endParaRPr>
          </a:p>
          <a:p>
            <a:pPr marL="0" lvl="0" indent="0" algn="just">
              <a:lnSpc>
                <a:spcPts val="3937"/>
              </a:lnSpc>
              <a:spcBef>
                <a:spcPct val="0"/>
              </a:spcBef>
            </a:pPr>
            <a:r>
              <a:rPr lang="en-US" sz="2916" u="none" spc="46">
                <a:solidFill>
                  <a:srgbClr val="FFFFFF"/>
                </a:solidFill>
                <a:latin typeface="Red Hat Display"/>
                <a:ea typeface="Red Hat Display"/>
                <a:cs typeface="Red Hat Display"/>
                <a:sym typeface="Red Hat Display"/>
              </a:rPr>
              <a:t>Delivers accurate and context-aware responses across varied queries and formats.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9537007" y="1408933"/>
            <a:ext cx="7722293" cy="1820868"/>
          </a:xfrm>
          <a:prstGeom prst="rect">
            <a:avLst/>
          </a:prstGeom>
        </p:spPr>
        <p:txBody>
          <a:bodyPr lIns="0" tIns="0" rIns="0" bIns="0" rtlCol="0" anchor="t">
            <a:spAutoFit/>
          </a:bodyPr>
          <a:lstStyle/>
          <a:p>
            <a:pPr marL="0" lvl="0" indent="0" algn="ctr">
              <a:lnSpc>
                <a:spcPts val="3937"/>
              </a:lnSpc>
              <a:spcBef>
                <a:spcPct val="0"/>
              </a:spcBef>
            </a:pPr>
            <a:r>
              <a:rPr lang="en-US" sz="2916" b="1" spc="46">
                <a:solidFill>
                  <a:srgbClr val="FFFFFF"/>
                </a:solidFill>
                <a:latin typeface="Red Hat Display Bold"/>
                <a:ea typeface="Red Hat Display Bold"/>
                <a:cs typeface="Red Hat Display Bold"/>
                <a:sym typeface="Red Hat Display Bold"/>
              </a:rPr>
              <a:t>H</a:t>
            </a:r>
            <a:r>
              <a:rPr lang="en-US" sz="2916" b="1" u="none" spc="46">
                <a:solidFill>
                  <a:srgbClr val="FFFFFF"/>
                </a:solidFill>
                <a:latin typeface="Red Hat Display Bold"/>
                <a:ea typeface="Red Hat Display Bold"/>
                <a:cs typeface="Red Hat Display Bold"/>
                <a:sym typeface="Red Hat Display Bold"/>
              </a:rPr>
              <a:t>igh Relevance &amp; Robustness:</a:t>
            </a:r>
          </a:p>
          <a:p>
            <a:pPr marL="0" lvl="0" indent="0" algn="ctr">
              <a:lnSpc>
                <a:spcPts val="2722"/>
              </a:lnSpc>
              <a:spcBef>
                <a:spcPct val="0"/>
              </a:spcBef>
            </a:pPr>
            <a:endParaRPr lang="en-US" sz="2916" b="1" u="none" spc="46">
              <a:solidFill>
                <a:srgbClr val="FFFFFF"/>
              </a:solidFill>
              <a:latin typeface="Red Hat Display Bold"/>
              <a:ea typeface="Red Hat Display Bold"/>
              <a:cs typeface="Red Hat Display Bold"/>
              <a:sym typeface="Red Hat Display Bold"/>
            </a:endParaRPr>
          </a:p>
          <a:p>
            <a:pPr marL="0" lvl="0" indent="0" algn="just">
              <a:lnSpc>
                <a:spcPts val="3937"/>
              </a:lnSpc>
              <a:spcBef>
                <a:spcPct val="0"/>
              </a:spcBef>
            </a:pPr>
            <a:r>
              <a:rPr lang="en-US" sz="2916" u="none" spc="46">
                <a:solidFill>
                  <a:srgbClr val="FFFFFF"/>
                </a:solidFill>
                <a:latin typeface="Red Hat Display"/>
                <a:ea typeface="Red Hat Display"/>
                <a:cs typeface="Red Hat Display"/>
                <a:sym typeface="Red Hat Display"/>
              </a:rPr>
              <a:t>Delivers accurate and context-aware responses across varied queries and formats.</a:t>
            </a:r>
          </a:p>
        </p:txBody>
      </p:sp>
      <p:grpSp>
        <p:nvGrpSpPr>
          <p:cNvPr id="25" name="Group 25"/>
          <p:cNvGrpSpPr/>
          <p:nvPr/>
        </p:nvGrpSpPr>
        <p:grpSpPr>
          <a:xfrm>
            <a:off x="9321397" y="3862348"/>
            <a:ext cx="8216916" cy="2561528"/>
            <a:chOff x="0" y="0"/>
            <a:chExt cx="2750680" cy="857492"/>
          </a:xfrm>
        </p:grpSpPr>
        <p:sp>
          <p:nvSpPr>
            <p:cNvPr id="26" name="Freeform 26"/>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7" name="TextBox 27"/>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TextBox 28"/>
          <p:cNvSpPr txBox="1"/>
          <p:nvPr/>
        </p:nvSpPr>
        <p:spPr>
          <a:xfrm>
            <a:off x="9537007" y="4170701"/>
            <a:ext cx="7722293" cy="1839691"/>
          </a:xfrm>
          <a:prstGeom prst="rect">
            <a:avLst/>
          </a:prstGeom>
        </p:spPr>
        <p:txBody>
          <a:bodyPr lIns="0" tIns="0" rIns="0" bIns="0" rtlCol="0" anchor="t">
            <a:spAutoFit/>
          </a:bodyPr>
          <a:lstStyle/>
          <a:p>
            <a:pPr marL="0" lvl="0" indent="0" algn="ctr">
              <a:lnSpc>
                <a:spcPts val="3953"/>
              </a:lnSpc>
              <a:spcBef>
                <a:spcPct val="0"/>
              </a:spcBef>
            </a:pPr>
            <a:r>
              <a:rPr lang="en-US" sz="2928" b="1" spc="46">
                <a:solidFill>
                  <a:srgbClr val="FFFFFF"/>
                </a:solidFill>
                <a:latin typeface="Red Hat Display Bold"/>
                <a:ea typeface="Red Hat Display Bold"/>
                <a:cs typeface="Red Hat Display Bold"/>
                <a:sym typeface="Red Hat Display Bold"/>
              </a:rPr>
              <a:t>R</a:t>
            </a:r>
            <a:r>
              <a:rPr lang="en-US" sz="2928" b="1" u="none" spc="46">
                <a:solidFill>
                  <a:srgbClr val="FFFFFF"/>
                </a:solidFill>
                <a:latin typeface="Red Hat Display Bold"/>
                <a:ea typeface="Red Hat Display Bold"/>
                <a:cs typeface="Red Hat Display Bold"/>
                <a:sym typeface="Red Hat Display Bold"/>
              </a:rPr>
              <a:t>eal-Time Data Awareness:</a:t>
            </a:r>
          </a:p>
          <a:p>
            <a:pPr marL="0" lvl="0" indent="0" algn="ctr">
              <a:lnSpc>
                <a:spcPts val="2873"/>
              </a:lnSpc>
              <a:spcBef>
                <a:spcPct val="0"/>
              </a:spcBef>
            </a:pPr>
            <a:endParaRPr lang="en-US" sz="2928" b="1" u="none" spc="46">
              <a:solidFill>
                <a:srgbClr val="FFFFFF"/>
              </a:solidFill>
              <a:latin typeface="Red Hat Display Bold"/>
              <a:ea typeface="Red Hat Display Bold"/>
              <a:cs typeface="Red Hat Display Bold"/>
              <a:sym typeface="Red Hat Display Bold"/>
            </a:endParaRPr>
          </a:p>
          <a:p>
            <a:pPr marL="0" lvl="0" indent="0" algn="just">
              <a:lnSpc>
                <a:spcPts val="3953"/>
              </a:lnSpc>
              <a:spcBef>
                <a:spcPct val="0"/>
              </a:spcBef>
            </a:pPr>
            <a:r>
              <a:rPr lang="en-US" sz="2928" u="none" spc="46">
                <a:solidFill>
                  <a:srgbClr val="FFFFFF"/>
                </a:solidFill>
                <a:latin typeface="Red Hat Display"/>
                <a:ea typeface="Red Hat Display"/>
                <a:cs typeface="Red Hat Display"/>
                <a:sym typeface="Red Hat Display"/>
              </a:rPr>
              <a:t>Continuously updated to reflect the most recent information and trends.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1028700" y="1470089"/>
            <a:ext cx="6749359" cy="6768991"/>
            <a:chOff x="0" y="0"/>
            <a:chExt cx="8999145" cy="9025321"/>
          </a:xfrm>
        </p:grpSpPr>
        <p:grpSp>
          <p:nvGrpSpPr>
            <p:cNvPr id="6" name="Group 6"/>
            <p:cNvGrpSpPr/>
            <p:nvPr/>
          </p:nvGrpSpPr>
          <p:grpSpPr>
            <a:xfrm>
              <a:off x="0" y="0"/>
              <a:ext cx="8999145" cy="9025321"/>
              <a:chOff x="0" y="0"/>
              <a:chExt cx="1777609" cy="1782780"/>
            </a:xfrm>
          </p:grpSpPr>
          <p:sp>
            <p:nvSpPr>
              <p:cNvPr id="7" name="Freeform 7"/>
              <p:cNvSpPr/>
              <p:nvPr/>
            </p:nvSpPr>
            <p:spPr>
              <a:xfrm>
                <a:off x="0" y="0"/>
                <a:ext cx="1777609" cy="1782780"/>
              </a:xfrm>
              <a:custGeom>
                <a:avLst/>
                <a:gdLst/>
                <a:ahLst/>
                <a:cxnLst/>
                <a:rect l="l" t="t" r="r" b="b"/>
                <a:pathLst>
                  <a:path w="1777609" h="1782780">
                    <a:moveTo>
                      <a:pt x="22941" y="0"/>
                    </a:moveTo>
                    <a:lnTo>
                      <a:pt x="1754668" y="0"/>
                    </a:lnTo>
                    <a:cubicBezTo>
                      <a:pt x="1767338" y="0"/>
                      <a:pt x="1777609" y="10271"/>
                      <a:pt x="1777609" y="22941"/>
                    </a:cubicBezTo>
                    <a:lnTo>
                      <a:pt x="1777609" y="1759838"/>
                    </a:lnTo>
                    <a:cubicBezTo>
                      <a:pt x="1777609" y="1765923"/>
                      <a:pt x="1775192" y="1771758"/>
                      <a:pt x="1770890" y="1776060"/>
                    </a:cubicBezTo>
                    <a:cubicBezTo>
                      <a:pt x="1766587" y="1780362"/>
                      <a:pt x="1760752" y="1782780"/>
                      <a:pt x="1754668" y="1782780"/>
                    </a:cubicBezTo>
                    <a:lnTo>
                      <a:pt x="22941" y="1782780"/>
                    </a:lnTo>
                    <a:cubicBezTo>
                      <a:pt x="16857" y="1782780"/>
                      <a:pt x="11022" y="1780362"/>
                      <a:pt x="6719" y="1776060"/>
                    </a:cubicBezTo>
                    <a:cubicBezTo>
                      <a:pt x="2417" y="1771758"/>
                      <a:pt x="0" y="1765923"/>
                      <a:pt x="0" y="1759838"/>
                    </a:cubicBezTo>
                    <a:lnTo>
                      <a:pt x="0" y="22941"/>
                    </a:lnTo>
                    <a:cubicBezTo>
                      <a:pt x="0" y="10271"/>
                      <a:pt x="10271" y="0"/>
                      <a:pt x="22941"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1777609" cy="18208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39966" y="1115685"/>
              <a:ext cx="7461309" cy="605282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What does the user want?</a:t>
              </a:r>
            </a:p>
          </p:txBody>
        </p:sp>
        <p:sp>
          <p:nvSpPr>
            <p:cNvPr id="10" name="TextBox 10"/>
            <p:cNvSpPr txBox="1"/>
            <p:nvPr/>
          </p:nvSpPr>
          <p:spPr>
            <a:xfrm>
              <a:off x="723315" y="7655415"/>
              <a:ext cx="6744584"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9537007" y="1408933"/>
            <a:ext cx="7722293" cy="1820868"/>
          </a:xfrm>
          <a:prstGeom prst="rect">
            <a:avLst/>
          </a:prstGeom>
        </p:spPr>
        <p:txBody>
          <a:bodyPr lIns="0" tIns="0" rIns="0" bIns="0" rtlCol="0" anchor="t">
            <a:spAutoFit/>
          </a:bodyPr>
          <a:lstStyle/>
          <a:p>
            <a:pPr marL="0" lvl="0" indent="0" algn="ctr">
              <a:lnSpc>
                <a:spcPts val="3937"/>
              </a:lnSpc>
              <a:spcBef>
                <a:spcPct val="0"/>
              </a:spcBef>
            </a:pPr>
            <a:r>
              <a:rPr lang="en-US" sz="2916" b="1" spc="46">
                <a:solidFill>
                  <a:srgbClr val="FFFFFF"/>
                </a:solidFill>
                <a:latin typeface="Red Hat Display Bold"/>
                <a:ea typeface="Red Hat Display Bold"/>
                <a:cs typeface="Red Hat Display Bold"/>
                <a:sym typeface="Red Hat Display Bold"/>
              </a:rPr>
              <a:t>H</a:t>
            </a:r>
            <a:r>
              <a:rPr lang="en-US" sz="2916" b="1" u="none" spc="46">
                <a:solidFill>
                  <a:srgbClr val="FFFFFF"/>
                </a:solidFill>
                <a:latin typeface="Red Hat Display Bold"/>
                <a:ea typeface="Red Hat Display Bold"/>
                <a:cs typeface="Red Hat Display Bold"/>
                <a:sym typeface="Red Hat Display Bold"/>
              </a:rPr>
              <a:t>igh Relevance &amp; Robustness:</a:t>
            </a:r>
          </a:p>
          <a:p>
            <a:pPr marL="0" lvl="0" indent="0" algn="ctr">
              <a:lnSpc>
                <a:spcPts val="2722"/>
              </a:lnSpc>
              <a:spcBef>
                <a:spcPct val="0"/>
              </a:spcBef>
            </a:pPr>
            <a:endParaRPr lang="en-US" sz="2916" b="1" u="none" spc="46">
              <a:solidFill>
                <a:srgbClr val="FFFFFF"/>
              </a:solidFill>
              <a:latin typeface="Red Hat Display Bold"/>
              <a:ea typeface="Red Hat Display Bold"/>
              <a:cs typeface="Red Hat Display Bold"/>
              <a:sym typeface="Red Hat Display Bold"/>
            </a:endParaRPr>
          </a:p>
          <a:p>
            <a:pPr marL="0" lvl="0" indent="0" algn="just">
              <a:lnSpc>
                <a:spcPts val="3937"/>
              </a:lnSpc>
              <a:spcBef>
                <a:spcPct val="0"/>
              </a:spcBef>
            </a:pPr>
            <a:r>
              <a:rPr lang="en-US" sz="2916" u="none" spc="46">
                <a:solidFill>
                  <a:srgbClr val="FFFFFF"/>
                </a:solidFill>
                <a:latin typeface="Red Hat Display"/>
                <a:ea typeface="Red Hat Display"/>
                <a:cs typeface="Red Hat Display"/>
                <a:sym typeface="Red Hat Display"/>
              </a:rPr>
              <a:t>Delivers accurate and context-aware responses across varied queries and formats.</a:t>
            </a:r>
          </a:p>
        </p:txBody>
      </p:sp>
      <p:grpSp>
        <p:nvGrpSpPr>
          <p:cNvPr id="25" name="Group 25"/>
          <p:cNvGrpSpPr/>
          <p:nvPr/>
        </p:nvGrpSpPr>
        <p:grpSpPr>
          <a:xfrm>
            <a:off x="9321397" y="3862348"/>
            <a:ext cx="8216916" cy="2561528"/>
            <a:chOff x="0" y="0"/>
            <a:chExt cx="2750680" cy="857492"/>
          </a:xfrm>
        </p:grpSpPr>
        <p:sp>
          <p:nvSpPr>
            <p:cNvPr id="26" name="Freeform 26"/>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7" name="TextBox 27"/>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TextBox 28"/>
          <p:cNvSpPr txBox="1"/>
          <p:nvPr/>
        </p:nvSpPr>
        <p:spPr>
          <a:xfrm>
            <a:off x="9537007" y="4170701"/>
            <a:ext cx="7722293" cy="1839691"/>
          </a:xfrm>
          <a:prstGeom prst="rect">
            <a:avLst/>
          </a:prstGeom>
        </p:spPr>
        <p:txBody>
          <a:bodyPr lIns="0" tIns="0" rIns="0" bIns="0" rtlCol="0" anchor="t">
            <a:spAutoFit/>
          </a:bodyPr>
          <a:lstStyle/>
          <a:p>
            <a:pPr marL="0" lvl="0" indent="0" algn="ctr">
              <a:lnSpc>
                <a:spcPts val="3953"/>
              </a:lnSpc>
              <a:spcBef>
                <a:spcPct val="0"/>
              </a:spcBef>
            </a:pPr>
            <a:r>
              <a:rPr lang="en-US" sz="2928" b="1" spc="46">
                <a:solidFill>
                  <a:srgbClr val="FFFFFF"/>
                </a:solidFill>
                <a:latin typeface="Red Hat Display Bold"/>
                <a:ea typeface="Red Hat Display Bold"/>
                <a:cs typeface="Red Hat Display Bold"/>
                <a:sym typeface="Red Hat Display Bold"/>
              </a:rPr>
              <a:t>R</a:t>
            </a:r>
            <a:r>
              <a:rPr lang="en-US" sz="2928" b="1" u="none" spc="46">
                <a:solidFill>
                  <a:srgbClr val="FFFFFF"/>
                </a:solidFill>
                <a:latin typeface="Red Hat Display Bold"/>
                <a:ea typeface="Red Hat Display Bold"/>
                <a:cs typeface="Red Hat Display Bold"/>
                <a:sym typeface="Red Hat Display Bold"/>
              </a:rPr>
              <a:t>eal-Time Data Awareness:</a:t>
            </a:r>
          </a:p>
          <a:p>
            <a:pPr marL="0" lvl="0" indent="0" algn="ctr">
              <a:lnSpc>
                <a:spcPts val="2873"/>
              </a:lnSpc>
              <a:spcBef>
                <a:spcPct val="0"/>
              </a:spcBef>
            </a:pPr>
            <a:endParaRPr lang="en-US" sz="2928" b="1" u="none" spc="46">
              <a:solidFill>
                <a:srgbClr val="FFFFFF"/>
              </a:solidFill>
              <a:latin typeface="Red Hat Display Bold"/>
              <a:ea typeface="Red Hat Display Bold"/>
              <a:cs typeface="Red Hat Display Bold"/>
              <a:sym typeface="Red Hat Display Bold"/>
            </a:endParaRPr>
          </a:p>
          <a:p>
            <a:pPr marL="0" lvl="0" indent="0" algn="just">
              <a:lnSpc>
                <a:spcPts val="3953"/>
              </a:lnSpc>
              <a:spcBef>
                <a:spcPct val="0"/>
              </a:spcBef>
            </a:pPr>
            <a:r>
              <a:rPr lang="en-US" sz="2928" u="none" spc="46">
                <a:solidFill>
                  <a:srgbClr val="FFFFFF"/>
                </a:solidFill>
                <a:latin typeface="Red Hat Display"/>
                <a:ea typeface="Red Hat Display"/>
                <a:cs typeface="Red Hat Display"/>
                <a:sym typeface="Red Hat Display"/>
              </a:rPr>
              <a:t>Continuously updated to reflect the most recent information and trends.</a:t>
            </a:r>
          </a:p>
        </p:txBody>
      </p:sp>
      <p:grpSp>
        <p:nvGrpSpPr>
          <p:cNvPr id="29" name="Group 29"/>
          <p:cNvGrpSpPr/>
          <p:nvPr/>
        </p:nvGrpSpPr>
        <p:grpSpPr>
          <a:xfrm>
            <a:off x="9321397" y="6633426"/>
            <a:ext cx="8216916" cy="2561528"/>
            <a:chOff x="0" y="0"/>
            <a:chExt cx="2750680" cy="857492"/>
          </a:xfrm>
        </p:grpSpPr>
        <p:sp>
          <p:nvSpPr>
            <p:cNvPr id="30" name="Freeform 30"/>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31" name="TextBox 31"/>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2" name="TextBox 32"/>
          <p:cNvSpPr txBox="1"/>
          <p:nvPr/>
        </p:nvSpPr>
        <p:spPr>
          <a:xfrm>
            <a:off x="9537007" y="6941778"/>
            <a:ext cx="7722293" cy="1820641"/>
          </a:xfrm>
          <a:prstGeom prst="rect">
            <a:avLst/>
          </a:prstGeom>
        </p:spPr>
        <p:txBody>
          <a:bodyPr lIns="0" tIns="0" rIns="0" bIns="0" rtlCol="0" anchor="t">
            <a:spAutoFit/>
          </a:bodyPr>
          <a:lstStyle/>
          <a:p>
            <a:pPr marL="0" lvl="0" indent="0" algn="ctr">
              <a:lnSpc>
                <a:spcPts val="3953"/>
              </a:lnSpc>
              <a:spcBef>
                <a:spcPct val="0"/>
              </a:spcBef>
            </a:pPr>
            <a:r>
              <a:rPr lang="en-US" sz="2928" b="1" spc="46">
                <a:solidFill>
                  <a:srgbClr val="FFFFFF"/>
                </a:solidFill>
                <a:latin typeface="Red Hat Display Bold"/>
                <a:ea typeface="Red Hat Display Bold"/>
                <a:cs typeface="Red Hat Display Bold"/>
                <a:sym typeface="Red Hat Display Bold"/>
              </a:rPr>
              <a:t>Mu</a:t>
            </a:r>
            <a:r>
              <a:rPr lang="en-US" sz="2928" b="1" u="none" spc="46">
                <a:solidFill>
                  <a:srgbClr val="FFFFFF"/>
                </a:solidFill>
                <a:latin typeface="Red Hat Display Bold"/>
                <a:ea typeface="Red Hat Display Bold"/>
                <a:cs typeface="Red Hat Display Bold"/>
                <a:sym typeface="Red Hat Display Bold"/>
              </a:rPr>
              <a:t>lti-Modal Understanding:</a:t>
            </a:r>
          </a:p>
          <a:p>
            <a:pPr marL="0" lvl="0" indent="0" algn="ctr">
              <a:lnSpc>
                <a:spcPts val="2738"/>
              </a:lnSpc>
              <a:spcBef>
                <a:spcPct val="0"/>
              </a:spcBef>
            </a:pPr>
            <a:endParaRPr lang="en-US" sz="2928" b="1" u="none" spc="46">
              <a:solidFill>
                <a:srgbClr val="FFFFFF"/>
              </a:solidFill>
              <a:latin typeface="Red Hat Display Bold"/>
              <a:ea typeface="Red Hat Display Bold"/>
              <a:cs typeface="Red Hat Display Bold"/>
              <a:sym typeface="Red Hat Display Bold"/>
            </a:endParaRPr>
          </a:p>
          <a:p>
            <a:pPr marL="0" lvl="0" indent="0" algn="just">
              <a:lnSpc>
                <a:spcPts val="3953"/>
              </a:lnSpc>
              <a:spcBef>
                <a:spcPct val="0"/>
              </a:spcBef>
            </a:pPr>
            <a:r>
              <a:rPr lang="en-US" sz="2928" u="none" spc="46">
                <a:solidFill>
                  <a:srgbClr val="FFFFFF"/>
                </a:solidFill>
                <a:latin typeface="Red Hat Display"/>
                <a:ea typeface="Red Hat Display"/>
                <a:cs typeface="Red Hat Display"/>
                <a:sym typeface="Red Hat Display"/>
              </a:rPr>
              <a:t>Capable of reading and reasoning over PDFs, documents, and images effectively.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1794704"/>
            <a:ext cx="13851811" cy="8041531"/>
            <a:chOff x="0" y="0"/>
            <a:chExt cx="3648214" cy="2117934"/>
          </a:xfrm>
        </p:grpSpPr>
        <p:sp>
          <p:nvSpPr>
            <p:cNvPr id="5" name="Freeform 5"/>
            <p:cNvSpPr/>
            <p:nvPr/>
          </p:nvSpPr>
          <p:spPr>
            <a:xfrm>
              <a:off x="0" y="0"/>
              <a:ext cx="3648214" cy="2117934"/>
            </a:xfrm>
            <a:custGeom>
              <a:avLst/>
              <a:gdLst/>
              <a:ahLst/>
              <a:cxnLst/>
              <a:rect l="l" t="t" r="r" b="b"/>
              <a:pathLst>
                <a:path w="3648214" h="2117934">
                  <a:moveTo>
                    <a:pt x="11178" y="0"/>
                  </a:moveTo>
                  <a:lnTo>
                    <a:pt x="3637035" y="0"/>
                  </a:lnTo>
                  <a:cubicBezTo>
                    <a:pt x="3643209" y="0"/>
                    <a:pt x="3648214" y="5005"/>
                    <a:pt x="3648214" y="11178"/>
                  </a:cubicBezTo>
                  <a:lnTo>
                    <a:pt x="3648214" y="2106756"/>
                  </a:lnTo>
                  <a:cubicBezTo>
                    <a:pt x="3648214" y="2112930"/>
                    <a:pt x="3643209" y="2117934"/>
                    <a:pt x="3637035" y="2117934"/>
                  </a:cubicBezTo>
                  <a:lnTo>
                    <a:pt x="11178" y="2117934"/>
                  </a:lnTo>
                  <a:cubicBezTo>
                    <a:pt x="5005" y="2117934"/>
                    <a:pt x="0" y="2112930"/>
                    <a:pt x="0" y="2106756"/>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3648214" cy="215603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990894" y="2698143"/>
            <a:ext cx="10571670" cy="228219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How do we plan to apply?</a:t>
            </a:r>
          </a:p>
        </p:txBody>
      </p:sp>
      <p:sp>
        <p:nvSpPr>
          <p:cNvPr id="8" name="Freeform 8"/>
          <p:cNvSpPr/>
          <p:nvPr/>
        </p:nvSpPr>
        <p:spPr>
          <a:xfrm>
            <a:off x="12271832" y="727092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001E"/>
        </a:solidFill>
        <a:effectLst/>
      </p:bgPr>
    </p:bg>
    <p:spTree>
      <p:nvGrpSpPr>
        <p:cNvPr id="1" name=""/>
        <p:cNvGrpSpPr/>
        <p:nvPr/>
      </p:nvGrpSpPr>
      <p:grpSpPr>
        <a:xfrm>
          <a:off x="0" y="0"/>
          <a:ext cx="0" cy="0"/>
          <a:chOff x="0" y="0"/>
          <a:chExt cx="0" cy="0"/>
        </a:xfrm>
      </p:grpSpPr>
      <p:sp>
        <p:nvSpPr>
          <p:cNvPr id="2" name="Freeform 2"/>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2"/>
            <a:stretch>
              <a:fillRect/>
            </a:stretch>
          </a:blipFill>
        </p:spPr>
      </p:sp>
      <p:grpSp>
        <p:nvGrpSpPr>
          <p:cNvPr id="3" name="Group 3"/>
          <p:cNvGrpSpPr/>
          <p:nvPr/>
        </p:nvGrpSpPr>
        <p:grpSpPr>
          <a:xfrm>
            <a:off x="1028700" y="1794704"/>
            <a:ext cx="13851811" cy="8041531"/>
            <a:chOff x="0" y="0"/>
            <a:chExt cx="3648214" cy="2117934"/>
          </a:xfrm>
        </p:grpSpPr>
        <p:sp>
          <p:nvSpPr>
            <p:cNvPr id="4" name="Freeform 4"/>
            <p:cNvSpPr/>
            <p:nvPr/>
          </p:nvSpPr>
          <p:spPr>
            <a:xfrm>
              <a:off x="0" y="0"/>
              <a:ext cx="3648214" cy="2117934"/>
            </a:xfrm>
            <a:custGeom>
              <a:avLst/>
              <a:gdLst/>
              <a:ahLst/>
              <a:cxnLst/>
              <a:rect l="l" t="t" r="r" b="b"/>
              <a:pathLst>
                <a:path w="3648214" h="2117934">
                  <a:moveTo>
                    <a:pt x="11178" y="0"/>
                  </a:moveTo>
                  <a:lnTo>
                    <a:pt x="3637035" y="0"/>
                  </a:lnTo>
                  <a:cubicBezTo>
                    <a:pt x="3643209" y="0"/>
                    <a:pt x="3648214" y="5005"/>
                    <a:pt x="3648214" y="11178"/>
                  </a:cubicBezTo>
                  <a:lnTo>
                    <a:pt x="3648214" y="2106756"/>
                  </a:lnTo>
                  <a:cubicBezTo>
                    <a:pt x="3648214" y="2112930"/>
                    <a:pt x="3643209" y="2117934"/>
                    <a:pt x="3637035" y="2117934"/>
                  </a:cubicBezTo>
                  <a:lnTo>
                    <a:pt x="11178" y="2117934"/>
                  </a:lnTo>
                  <a:cubicBezTo>
                    <a:pt x="5005" y="2117934"/>
                    <a:pt x="0" y="2112930"/>
                    <a:pt x="0" y="2106756"/>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5" name="TextBox 5"/>
            <p:cNvSpPr txBox="1"/>
            <p:nvPr/>
          </p:nvSpPr>
          <p:spPr>
            <a:xfrm>
              <a:off x="0" y="-38100"/>
              <a:ext cx="3648214" cy="215603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754630" y="3227147"/>
            <a:ext cx="12399952" cy="4491990"/>
          </a:xfrm>
          <a:prstGeom prst="rect">
            <a:avLst/>
          </a:prstGeom>
        </p:spPr>
        <p:txBody>
          <a:bodyPr lIns="0" tIns="0" rIns="0" bIns="0" rtlCol="0" anchor="t">
            <a:spAutoFit/>
          </a:bodyPr>
          <a:lstStyle/>
          <a:p>
            <a:pPr algn="l">
              <a:lnSpc>
                <a:spcPts val="8730"/>
              </a:lnSpc>
            </a:pPr>
            <a:r>
              <a:rPr lang="en-US" sz="9000">
                <a:solidFill>
                  <a:srgbClr val="F4F4ED"/>
                </a:solidFill>
                <a:latin typeface="Archivo Black"/>
                <a:ea typeface="Archivo Black"/>
                <a:cs typeface="Archivo Black"/>
                <a:sym typeface="Archivo Black"/>
              </a:rPr>
              <a:t>Apply Adaptive Retreival and context enrichment strategy in our RAG</a:t>
            </a:r>
          </a:p>
        </p:txBody>
      </p:sp>
      <p:sp>
        <p:nvSpPr>
          <p:cNvPr id="7" name="Freeform 7"/>
          <p:cNvSpPr/>
          <p:nvPr/>
        </p:nvSpPr>
        <p:spPr>
          <a:xfrm>
            <a:off x="12271832" y="8281112"/>
            <a:ext cx="896420" cy="896420"/>
          </a:xfrm>
          <a:custGeom>
            <a:avLst/>
            <a:gdLst/>
            <a:ahLst/>
            <a:cxnLst/>
            <a:rect l="l" t="t" r="r" b="b"/>
            <a:pathLst>
              <a:path w="896420" h="896420">
                <a:moveTo>
                  <a:pt x="0" y="0"/>
                </a:moveTo>
                <a:lnTo>
                  <a:pt x="896421" y="0"/>
                </a:lnTo>
                <a:lnTo>
                  <a:pt x="896421" y="896420"/>
                </a:lnTo>
                <a:lnTo>
                  <a:pt x="0" y="89642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175502" y="3271206"/>
            <a:ext cx="4062661" cy="2988898"/>
            <a:chOff x="0" y="0"/>
            <a:chExt cx="1070001" cy="787200"/>
          </a:xfrm>
        </p:grpSpPr>
        <p:sp>
          <p:nvSpPr>
            <p:cNvPr id="5" name="Freeform 5"/>
            <p:cNvSpPr/>
            <p:nvPr/>
          </p:nvSpPr>
          <p:spPr>
            <a:xfrm>
              <a:off x="0" y="0"/>
              <a:ext cx="1070001" cy="787200"/>
            </a:xfrm>
            <a:custGeom>
              <a:avLst/>
              <a:gdLst/>
              <a:ahLst/>
              <a:cxnLst/>
              <a:rect l="l" t="t" r="r" b="b"/>
              <a:pathLst>
                <a:path w="1070001" h="787200">
                  <a:moveTo>
                    <a:pt x="38113" y="0"/>
                  </a:moveTo>
                  <a:lnTo>
                    <a:pt x="1031889" y="0"/>
                  </a:lnTo>
                  <a:cubicBezTo>
                    <a:pt x="1041997" y="0"/>
                    <a:pt x="1051691" y="4015"/>
                    <a:pt x="1058838" y="11163"/>
                  </a:cubicBezTo>
                  <a:cubicBezTo>
                    <a:pt x="1065986" y="18310"/>
                    <a:pt x="1070001" y="28004"/>
                    <a:pt x="1070001" y="38113"/>
                  </a:cubicBezTo>
                  <a:lnTo>
                    <a:pt x="1070001" y="749087"/>
                  </a:lnTo>
                  <a:cubicBezTo>
                    <a:pt x="1070001" y="770136"/>
                    <a:pt x="1052938" y="787200"/>
                    <a:pt x="1031889" y="787200"/>
                  </a:cubicBezTo>
                  <a:lnTo>
                    <a:pt x="38113" y="787200"/>
                  </a:lnTo>
                  <a:cubicBezTo>
                    <a:pt x="17064" y="787200"/>
                    <a:pt x="0" y="770136"/>
                    <a:pt x="0" y="749087"/>
                  </a:cubicBezTo>
                  <a:lnTo>
                    <a:pt x="0" y="38113"/>
                  </a:lnTo>
                  <a:cubicBezTo>
                    <a:pt x="0" y="17064"/>
                    <a:pt x="17064" y="0"/>
                    <a:pt x="38113"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070001" cy="8253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14300" y="3783275"/>
            <a:ext cx="4015707"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Adaptive RAG System</a:t>
            </a:r>
          </a:p>
        </p:txBody>
      </p:sp>
      <p:grpSp>
        <p:nvGrpSpPr>
          <p:cNvPr id="8" name="Group 8"/>
          <p:cNvGrpSpPr/>
          <p:nvPr/>
        </p:nvGrpSpPr>
        <p:grpSpPr>
          <a:xfrm>
            <a:off x="5186509" y="499640"/>
            <a:ext cx="12351804" cy="9346726"/>
            <a:chOff x="0" y="0"/>
            <a:chExt cx="16469072" cy="12462301"/>
          </a:xfrm>
        </p:grpSpPr>
        <p:grpSp>
          <p:nvGrpSpPr>
            <p:cNvPr id="9" name="Group 9"/>
            <p:cNvGrpSpPr/>
            <p:nvPr/>
          </p:nvGrpSpPr>
          <p:grpSpPr>
            <a:xfrm>
              <a:off x="0" y="0"/>
              <a:ext cx="16469072" cy="11290789"/>
              <a:chOff x="0" y="0"/>
              <a:chExt cx="4134868" cy="2834763"/>
            </a:xfrm>
          </p:grpSpPr>
          <p:sp>
            <p:nvSpPr>
              <p:cNvPr id="10" name="Freeform 10"/>
              <p:cNvSpPr/>
              <p:nvPr/>
            </p:nvSpPr>
            <p:spPr>
              <a:xfrm>
                <a:off x="0" y="0"/>
                <a:ext cx="4134868" cy="2834763"/>
              </a:xfrm>
              <a:custGeom>
                <a:avLst/>
                <a:gdLst/>
                <a:ahLst/>
                <a:cxnLst/>
                <a:rect l="l" t="t" r="r" b="b"/>
                <a:pathLst>
                  <a:path w="4134868" h="2834763">
                    <a:moveTo>
                      <a:pt x="12536" y="0"/>
                    </a:moveTo>
                    <a:lnTo>
                      <a:pt x="4122332" y="0"/>
                    </a:lnTo>
                    <a:cubicBezTo>
                      <a:pt x="4129255" y="0"/>
                      <a:pt x="4134868" y="5612"/>
                      <a:pt x="4134868" y="12536"/>
                    </a:cubicBezTo>
                    <a:lnTo>
                      <a:pt x="4134868" y="2822228"/>
                    </a:lnTo>
                    <a:cubicBezTo>
                      <a:pt x="4134868" y="2825552"/>
                      <a:pt x="4133547" y="2828741"/>
                      <a:pt x="4131196" y="2831092"/>
                    </a:cubicBezTo>
                    <a:cubicBezTo>
                      <a:pt x="4128845" y="2833443"/>
                      <a:pt x="4125657" y="2834763"/>
                      <a:pt x="4122332" y="2834763"/>
                    </a:cubicBezTo>
                    <a:lnTo>
                      <a:pt x="12536" y="2834763"/>
                    </a:lnTo>
                    <a:cubicBezTo>
                      <a:pt x="5612" y="2834763"/>
                      <a:pt x="0" y="2829151"/>
                      <a:pt x="0" y="2822228"/>
                    </a:cubicBezTo>
                    <a:lnTo>
                      <a:pt x="0" y="12536"/>
                    </a:lnTo>
                    <a:cubicBezTo>
                      <a:pt x="0" y="9211"/>
                      <a:pt x="1321" y="6023"/>
                      <a:pt x="3672" y="3672"/>
                    </a:cubicBezTo>
                    <a:cubicBezTo>
                      <a:pt x="6023" y="1321"/>
                      <a:pt x="9211" y="0"/>
                      <a:pt x="12536" y="0"/>
                    </a:cubicBezTo>
                    <a:close/>
                  </a:path>
                </a:pathLst>
              </a:custGeom>
              <a:solidFill>
                <a:srgbClr val="04001E"/>
              </a:solidFill>
              <a:ln w="38100" cap="sq">
                <a:solidFill>
                  <a:srgbClr val="E5E1DA"/>
                </a:solidFill>
                <a:prstDash val="solid"/>
                <a:miter/>
              </a:ln>
            </p:spPr>
          </p:sp>
          <p:sp>
            <p:nvSpPr>
              <p:cNvPr id="11" name="TextBox 11"/>
              <p:cNvSpPr txBox="1"/>
              <p:nvPr/>
            </p:nvSpPr>
            <p:spPr>
              <a:xfrm>
                <a:off x="0" y="-38100"/>
                <a:ext cx="4134868" cy="2872863"/>
              </a:xfrm>
              <a:prstGeom prst="rect">
                <a:avLst/>
              </a:prstGeom>
            </p:spPr>
            <p:txBody>
              <a:bodyPr lIns="50800" tIns="50800" rIns="50800" bIns="50800" rtlCol="0" anchor="ctr"/>
              <a:lstStyle/>
              <a:p>
                <a:pPr marL="410209" lvl="1" indent="-205105" algn="ctr">
                  <a:lnSpc>
                    <a:spcPts val="2659"/>
                  </a:lnSpc>
                  <a:buFont typeface="Arial"/>
                  <a:buChar char="•"/>
                </a:pPr>
                <a:r>
                  <a:rPr lang="en-US" sz="1899">
                    <a:solidFill>
                      <a:srgbClr val="000000"/>
                    </a:solidFill>
                    <a:latin typeface="Lato"/>
                    <a:ea typeface="Lato"/>
                    <a:cs typeface="Lato"/>
                    <a:sym typeface="Lato"/>
                  </a:rPr>
                  <a:t>fawf</a:t>
                </a:r>
              </a:p>
            </p:txBody>
          </p:sp>
        </p:grpSp>
        <p:sp>
          <p:nvSpPr>
            <p:cNvPr id="12" name="TextBox 12"/>
            <p:cNvSpPr txBox="1"/>
            <p:nvPr/>
          </p:nvSpPr>
          <p:spPr>
            <a:xfrm>
              <a:off x="614833" y="2448767"/>
              <a:ext cx="14804335" cy="10013534"/>
            </a:xfrm>
            <a:prstGeom prst="rect">
              <a:avLst/>
            </a:prstGeom>
          </p:spPr>
          <p:txBody>
            <a:bodyPr lIns="0" tIns="0" rIns="0" bIns="0" rtlCol="0" anchor="t">
              <a:spAutoFit/>
            </a:bodyPr>
            <a:lstStyle/>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Query Classification</a:t>
              </a:r>
            </a:p>
            <a:p>
              <a:pPr algn="l">
                <a:lnSpc>
                  <a:spcPts val="5422"/>
                </a:lnSpc>
              </a:pPr>
              <a:endParaRPr lang="en-US" sz="4016" u="none" spc="64">
                <a:solidFill>
                  <a:srgbClr val="FFFFFF"/>
                </a:solidFill>
                <a:latin typeface="Red Hat Display"/>
                <a:ea typeface="Red Hat Display"/>
                <a:cs typeface="Red Hat Display"/>
                <a:sym typeface="Red Hat Display"/>
              </a:endParaRPr>
            </a:p>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Dynamic Strategy Selection</a:t>
              </a:r>
            </a:p>
            <a:p>
              <a:pPr algn="l">
                <a:lnSpc>
                  <a:spcPts val="5422"/>
                </a:lnSpc>
              </a:pPr>
              <a:endParaRPr lang="en-US" sz="4016" u="none" spc="64">
                <a:solidFill>
                  <a:srgbClr val="FFFFFF"/>
                </a:solidFill>
                <a:latin typeface="Red Hat Display"/>
                <a:ea typeface="Red Hat Display"/>
                <a:cs typeface="Red Hat Display"/>
                <a:sym typeface="Red Hat Display"/>
              </a:endParaRPr>
            </a:p>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Tailored Retrieval</a:t>
              </a:r>
            </a:p>
            <a:p>
              <a:pPr algn="l">
                <a:lnSpc>
                  <a:spcPts val="5422"/>
                </a:lnSpc>
              </a:pPr>
              <a:endParaRPr lang="en-US" sz="4016" u="none" spc="64">
                <a:solidFill>
                  <a:srgbClr val="FFFFFF"/>
                </a:solidFill>
                <a:latin typeface="Red Hat Display"/>
                <a:ea typeface="Red Hat Display"/>
                <a:cs typeface="Red Hat Display"/>
                <a:sym typeface="Red Hat Display"/>
              </a:endParaRPr>
            </a:p>
            <a:p>
              <a:pPr marL="867134" lvl="1" indent="-433567" algn="l">
                <a:lnSpc>
                  <a:spcPts val="5422"/>
                </a:lnSpc>
                <a:buFont typeface="Arial"/>
                <a:buChar char="•"/>
              </a:pPr>
              <a:r>
                <a:rPr lang="en-US" sz="4016" u="none" spc="64">
                  <a:solidFill>
                    <a:srgbClr val="FFFFFF"/>
                  </a:solidFill>
                  <a:latin typeface="Red Hat Display"/>
                  <a:ea typeface="Red Hat Display"/>
                  <a:cs typeface="Red Hat Display"/>
                  <a:sym typeface="Red Hat Display"/>
                </a:rPr>
                <a:t> Improved Precision</a:t>
              </a:r>
            </a:p>
            <a:p>
              <a:pPr algn="l">
                <a:lnSpc>
                  <a:spcPts val="5422"/>
                </a:lnSpc>
              </a:pPr>
              <a:endParaRPr lang="en-US" sz="4016" u="none" spc="64">
                <a:solidFill>
                  <a:srgbClr val="FFFFFF"/>
                </a:solidFill>
                <a:latin typeface="Red Hat Display"/>
                <a:ea typeface="Red Hat Display"/>
                <a:cs typeface="Red Hat Display"/>
                <a:sym typeface="Red Hat Display"/>
              </a:endParaRPr>
            </a:p>
            <a:p>
              <a:pPr algn="l">
                <a:lnSpc>
                  <a:spcPts val="5422"/>
                </a:lnSpc>
              </a:pPr>
              <a:endParaRPr lang="en-US" sz="4016" u="none" spc="64">
                <a:solidFill>
                  <a:srgbClr val="FFFFFF"/>
                </a:solidFill>
                <a:latin typeface="Red Hat Display"/>
                <a:ea typeface="Red Hat Display"/>
                <a:cs typeface="Red Hat Display"/>
                <a:sym typeface="Red Hat Display"/>
              </a:endParaRPr>
            </a:p>
            <a:p>
              <a:pPr algn="l">
                <a:lnSpc>
                  <a:spcPts val="5422"/>
                </a:lnSpc>
              </a:pPr>
              <a:endParaRPr lang="en-US" sz="4016" u="none" spc="64">
                <a:solidFill>
                  <a:srgbClr val="FFFFFF"/>
                </a:solidFill>
                <a:latin typeface="Red Hat Display"/>
                <a:ea typeface="Red Hat Display"/>
                <a:cs typeface="Red Hat Display"/>
                <a:sym typeface="Red Hat Display"/>
              </a:endParaRPr>
            </a:p>
            <a:p>
              <a:pPr algn="l">
                <a:lnSpc>
                  <a:spcPts val="5422"/>
                </a:lnSpc>
              </a:pPr>
              <a:endParaRPr lang="en-US" sz="4016" u="none" spc="64">
                <a:solidFill>
                  <a:srgbClr val="FFFFFF"/>
                </a:solidFill>
                <a:latin typeface="Red Hat Display"/>
                <a:ea typeface="Red Hat Display"/>
                <a:cs typeface="Red Hat Display"/>
                <a:sym typeface="Red Hat Display"/>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175502" y="3271206"/>
            <a:ext cx="4062661" cy="2988898"/>
            <a:chOff x="0" y="0"/>
            <a:chExt cx="1070001" cy="787200"/>
          </a:xfrm>
        </p:grpSpPr>
        <p:sp>
          <p:nvSpPr>
            <p:cNvPr id="5" name="Freeform 5"/>
            <p:cNvSpPr/>
            <p:nvPr/>
          </p:nvSpPr>
          <p:spPr>
            <a:xfrm>
              <a:off x="0" y="0"/>
              <a:ext cx="1070001" cy="787200"/>
            </a:xfrm>
            <a:custGeom>
              <a:avLst/>
              <a:gdLst/>
              <a:ahLst/>
              <a:cxnLst/>
              <a:rect l="l" t="t" r="r" b="b"/>
              <a:pathLst>
                <a:path w="1070001" h="787200">
                  <a:moveTo>
                    <a:pt x="38113" y="0"/>
                  </a:moveTo>
                  <a:lnTo>
                    <a:pt x="1031889" y="0"/>
                  </a:lnTo>
                  <a:cubicBezTo>
                    <a:pt x="1041997" y="0"/>
                    <a:pt x="1051691" y="4015"/>
                    <a:pt x="1058838" y="11163"/>
                  </a:cubicBezTo>
                  <a:cubicBezTo>
                    <a:pt x="1065986" y="18310"/>
                    <a:pt x="1070001" y="28004"/>
                    <a:pt x="1070001" y="38113"/>
                  </a:cubicBezTo>
                  <a:lnTo>
                    <a:pt x="1070001" y="749087"/>
                  </a:lnTo>
                  <a:cubicBezTo>
                    <a:pt x="1070001" y="770136"/>
                    <a:pt x="1052938" y="787200"/>
                    <a:pt x="1031889" y="787200"/>
                  </a:cubicBezTo>
                  <a:lnTo>
                    <a:pt x="38113" y="787200"/>
                  </a:lnTo>
                  <a:cubicBezTo>
                    <a:pt x="17064" y="787200"/>
                    <a:pt x="0" y="770136"/>
                    <a:pt x="0" y="749087"/>
                  </a:cubicBezTo>
                  <a:lnTo>
                    <a:pt x="0" y="38113"/>
                  </a:lnTo>
                  <a:cubicBezTo>
                    <a:pt x="0" y="17064"/>
                    <a:pt x="17064" y="0"/>
                    <a:pt x="38113"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070001" cy="82530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4394594" y="223993"/>
            <a:ext cx="13674331" cy="9839013"/>
          </a:xfrm>
          <a:custGeom>
            <a:avLst/>
            <a:gdLst/>
            <a:ahLst/>
            <a:cxnLst/>
            <a:rect l="l" t="t" r="r" b="b"/>
            <a:pathLst>
              <a:path w="13674331" h="9839013">
                <a:moveTo>
                  <a:pt x="0" y="0"/>
                </a:moveTo>
                <a:lnTo>
                  <a:pt x="13674331" y="0"/>
                </a:lnTo>
                <a:lnTo>
                  <a:pt x="13674331" y="9839014"/>
                </a:lnTo>
                <a:lnTo>
                  <a:pt x="0" y="9839014"/>
                </a:lnTo>
                <a:lnTo>
                  <a:pt x="0" y="0"/>
                </a:lnTo>
                <a:close/>
              </a:path>
            </a:pathLst>
          </a:custGeom>
          <a:blipFill>
            <a:blip r:embed="rId4"/>
            <a:stretch>
              <a:fillRect/>
            </a:stretch>
          </a:blipFill>
        </p:spPr>
      </p:sp>
      <p:sp>
        <p:nvSpPr>
          <p:cNvPr id="8" name="TextBox 8"/>
          <p:cNvSpPr txBox="1"/>
          <p:nvPr/>
        </p:nvSpPr>
        <p:spPr>
          <a:xfrm>
            <a:off x="114300" y="3783275"/>
            <a:ext cx="4015707"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Adaptive RAG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18427" y="3271206"/>
            <a:ext cx="6600436" cy="2988898"/>
            <a:chOff x="0" y="0"/>
            <a:chExt cx="1738386" cy="787200"/>
          </a:xfrm>
        </p:grpSpPr>
        <p:sp>
          <p:nvSpPr>
            <p:cNvPr id="5" name="Freeform 5"/>
            <p:cNvSpPr/>
            <p:nvPr/>
          </p:nvSpPr>
          <p:spPr>
            <a:xfrm>
              <a:off x="0" y="0"/>
              <a:ext cx="1738386" cy="787200"/>
            </a:xfrm>
            <a:custGeom>
              <a:avLst/>
              <a:gdLst/>
              <a:ahLst/>
              <a:cxnLst/>
              <a:rect l="l" t="t" r="r" b="b"/>
              <a:pathLst>
                <a:path w="1738386" h="787200">
                  <a:moveTo>
                    <a:pt x="23459" y="0"/>
                  </a:moveTo>
                  <a:lnTo>
                    <a:pt x="1714927" y="0"/>
                  </a:lnTo>
                  <a:cubicBezTo>
                    <a:pt x="1721149" y="0"/>
                    <a:pt x="1727116" y="2472"/>
                    <a:pt x="1731515" y="6871"/>
                  </a:cubicBezTo>
                  <a:cubicBezTo>
                    <a:pt x="1735915" y="11270"/>
                    <a:pt x="1738386" y="17237"/>
                    <a:pt x="1738386" y="23459"/>
                  </a:cubicBezTo>
                  <a:lnTo>
                    <a:pt x="1738386" y="763741"/>
                  </a:lnTo>
                  <a:cubicBezTo>
                    <a:pt x="1738386" y="769962"/>
                    <a:pt x="1735915" y="775929"/>
                    <a:pt x="1731515" y="780329"/>
                  </a:cubicBezTo>
                  <a:cubicBezTo>
                    <a:pt x="1727116" y="784728"/>
                    <a:pt x="1721149" y="787200"/>
                    <a:pt x="1714927" y="787200"/>
                  </a:cubicBezTo>
                  <a:lnTo>
                    <a:pt x="23459" y="787200"/>
                  </a:lnTo>
                  <a:cubicBezTo>
                    <a:pt x="17237" y="787200"/>
                    <a:pt x="11270" y="784728"/>
                    <a:pt x="6871" y="780329"/>
                  </a:cubicBezTo>
                  <a:cubicBezTo>
                    <a:pt x="2472" y="775929"/>
                    <a:pt x="0" y="769962"/>
                    <a:pt x="0" y="763741"/>
                  </a:cubicBezTo>
                  <a:lnTo>
                    <a:pt x="0" y="23459"/>
                  </a:lnTo>
                  <a:cubicBezTo>
                    <a:pt x="0" y="17237"/>
                    <a:pt x="2472" y="11270"/>
                    <a:pt x="6871" y="6871"/>
                  </a:cubicBezTo>
                  <a:cubicBezTo>
                    <a:pt x="11270" y="2472"/>
                    <a:pt x="17237" y="0"/>
                    <a:pt x="23459"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38386" cy="8253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8010327" y="404262"/>
            <a:ext cx="6704168" cy="9517067"/>
            <a:chOff x="0" y="0"/>
            <a:chExt cx="2244276" cy="3185916"/>
          </a:xfrm>
        </p:grpSpPr>
        <p:sp>
          <p:nvSpPr>
            <p:cNvPr id="8" name="Freeform 8"/>
            <p:cNvSpPr/>
            <p:nvPr/>
          </p:nvSpPr>
          <p:spPr>
            <a:xfrm>
              <a:off x="0" y="0"/>
              <a:ext cx="2244276" cy="3185916"/>
            </a:xfrm>
            <a:custGeom>
              <a:avLst/>
              <a:gdLst/>
              <a:ahLst/>
              <a:cxnLst/>
              <a:rect l="l" t="t" r="r" b="b"/>
              <a:pathLst>
                <a:path w="2244276" h="3185916">
                  <a:moveTo>
                    <a:pt x="23096" y="0"/>
                  </a:moveTo>
                  <a:lnTo>
                    <a:pt x="2221180" y="0"/>
                  </a:lnTo>
                  <a:cubicBezTo>
                    <a:pt x="2233935" y="0"/>
                    <a:pt x="2244276" y="10340"/>
                    <a:pt x="2244276" y="23096"/>
                  </a:cubicBezTo>
                  <a:lnTo>
                    <a:pt x="2244276" y="3162821"/>
                  </a:lnTo>
                  <a:cubicBezTo>
                    <a:pt x="2244276" y="3168946"/>
                    <a:pt x="2241842" y="3174821"/>
                    <a:pt x="2237511" y="3179152"/>
                  </a:cubicBezTo>
                  <a:cubicBezTo>
                    <a:pt x="2233180" y="3183483"/>
                    <a:pt x="2227305" y="3185916"/>
                    <a:pt x="2221180" y="3185916"/>
                  </a:cubicBezTo>
                  <a:lnTo>
                    <a:pt x="23096" y="3185916"/>
                  </a:lnTo>
                  <a:cubicBezTo>
                    <a:pt x="10340" y="3185916"/>
                    <a:pt x="0" y="3175576"/>
                    <a:pt x="0" y="3162821"/>
                  </a:cubicBezTo>
                  <a:lnTo>
                    <a:pt x="0" y="23096"/>
                  </a:lnTo>
                  <a:cubicBezTo>
                    <a:pt x="0" y="10340"/>
                    <a:pt x="10340" y="0"/>
                    <a:pt x="23096" y="0"/>
                  </a:cubicBezTo>
                  <a:close/>
                </a:path>
              </a:pathLst>
            </a:custGeom>
            <a:solidFill>
              <a:srgbClr val="04001E"/>
            </a:solidFill>
            <a:ln w="38100" cap="sq">
              <a:solidFill>
                <a:srgbClr val="E5E1DA"/>
              </a:solidFill>
              <a:prstDash val="solid"/>
              <a:miter/>
            </a:ln>
          </p:spPr>
        </p:sp>
        <p:sp>
          <p:nvSpPr>
            <p:cNvPr id="9" name="TextBox 9"/>
            <p:cNvSpPr txBox="1"/>
            <p:nvPr/>
          </p:nvSpPr>
          <p:spPr>
            <a:xfrm>
              <a:off x="0" y="-38100"/>
              <a:ext cx="2244276" cy="3224016"/>
            </a:xfrm>
            <a:prstGeom prst="rect">
              <a:avLst/>
            </a:prstGeom>
          </p:spPr>
          <p:txBody>
            <a:bodyPr lIns="50800" tIns="50800" rIns="50800" bIns="50800" rtlCol="0" anchor="ctr"/>
            <a:lstStyle/>
            <a:p>
              <a:pPr marL="410209" lvl="1" indent="-205105" algn="ctr">
                <a:lnSpc>
                  <a:spcPts val="2659"/>
                </a:lnSpc>
                <a:buFont typeface="Arial"/>
                <a:buChar char="•"/>
              </a:pPr>
              <a:r>
                <a:rPr lang="en-US" sz="1899">
                  <a:solidFill>
                    <a:srgbClr val="000000"/>
                  </a:solidFill>
                  <a:latin typeface="Lato"/>
                  <a:ea typeface="Lato"/>
                  <a:cs typeface="Lato"/>
                  <a:sym typeface="Lato"/>
                </a:rPr>
                <a:t>fawf</a:t>
              </a:r>
            </a:p>
          </p:txBody>
        </p:sp>
      </p:grpSp>
      <p:sp>
        <p:nvSpPr>
          <p:cNvPr id="10" name="TextBox 10"/>
          <p:cNvSpPr txBox="1"/>
          <p:nvPr/>
        </p:nvSpPr>
        <p:spPr>
          <a:xfrm>
            <a:off x="657225" y="3783275"/>
            <a:ext cx="6201711"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Context</a:t>
            </a:r>
          </a:p>
          <a:p>
            <a:pPr algn="ctr">
              <a:lnSpc>
                <a:spcPts val="5238"/>
              </a:lnSpc>
            </a:pPr>
            <a:r>
              <a:rPr lang="en-US" sz="5400">
                <a:solidFill>
                  <a:srgbClr val="FFFFFF"/>
                </a:solidFill>
                <a:latin typeface="Archivo Black"/>
                <a:ea typeface="Archivo Black"/>
                <a:cs typeface="Archivo Black"/>
                <a:sym typeface="Archivo Black"/>
              </a:rPr>
              <a:t>Enrichment</a:t>
            </a:r>
          </a:p>
          <a:p>
            <a:pPr algn="ctr">
              <a:lnSpc>
                <a:spcPts val="5238"/>
              </a:lnSpc>
            </a:pPr>
            <a:r>
              <a:rPr lang="en-US" sz="5400">
                <a:solidFill>
                  <a:srgbClr val="FFFFFF"/>
                </a:solidFill>
                <a:latin typeface="Archivo Black"/>
                <a:ea typeface="Archivo Black"/>
                <a:cs typeface="Archivo Black"/>
                <a:sym typeface="Archivo Black"/>
              </a:rPr>
              <a:t>Strategy</a:t>
            </a:r>
          </a:p>
        </p:txBody>
      </p:sp>
      <p:sp>
        <p:nvSpPr>
          <p:cNvPr id="11" name="TextBox 11"/>
          <p:cNvSpPr txBox="1"/>
          <p:nvPr/>
        </p:nvSpPr>
        <p:spPr>
          <a:xfrm>
            <a:off x="8105577" y="1937050"/>
            <a:ext cx="6878323" cy="7722692"/>
          </a:xfrm>
          <a:prstGeom prst="rect">
            <a:avLst/>
          </a:prstGeom>
        </p:spPr>
        <p:txBody>
          <a:bodyPr lIns="0" tIns="0" rIns="0" bIns="0" rtlCol="0" anchor="t">
            <a:spAutoFit/>
          </a:bodyPr>
          <a:lstStyle/>
          <a:p>
            <a:pPr marL="759140" lvl="1" indent="-379570" algn="l">
              <a:lnSpc>
                <a:spcPts val="4746"/>
              </a:lnSpc>
              <a:buFont typeface="Arial"/>
              <a:buChar char="•"/>
            </a:pPr>
            <a:r>
              <a:rPr lang="en-US" sz="3516" spc="56">
                <a:solidFill>
                  <a:srgbClr val="FFFFFF"/>
                </a:solidFill>
                <a:latin typeface="Red Hat Display"/>
                <a:ea typeface="Red Hat Display"/>
                <a:cs typeface="Red Hat Display"/>
                <a:sym typeface="Red Hat Display"/>
              </a:rPr>
              <a:t> </a:t>
            </a:r>
            <a:r>
              <a:rPr lang="en-US" sz="3516" u="none" spc="56">
                <a:solidFill>
                  <a:srgbClr val="FFFFFF"/>
                </a:solidFill>
                <a:latin typeface="Red Hat Display"/>
                <a:ea typeface="Red Hat Display"/>
                <a:cs typeface="Red Hat Display"/>
                <a:sym typeface="Red Hat Display"/>
              </a:rPr>
              <a:t>Web Scraping for Context</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 Semantic Chunking</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Context Enrichment</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 Vector Embedding &amp; Storage</a:t>
            </a:r>
          </a:p>
          <a:p>
            <a:pPr algn="l">
              <a:lnSpc>
                <a:spcPts val="4746"/>
              </a:lnSpc>
            </a:pPr>
            <a:endParaRPr lang="en-US" sz="3516" u="none" spc="56">
              <a:solidFill>
                <a:srgbClr val="FFFFFF"/>
              </a:solidFill>
              <a:latin typeface="Red Hat Display"/>
              <a:ea typeface="Red Hat Display"/>
              <a:cs typeface="Red Hat Display"/>
              <a:sym typeface="Red Hat Display"/>
            </a:endParaRPr>
          </a:p>
          <a:p>
            <a:pPr marL="759140" lvl="1" indent="-379570" algn="l">
              <a:lnSpc>
                <a:spcPts val="4746"/>
              </a:lnSpc>
              <a:buFont typeface="Arial"/>
              <a:buChar char="•"/>
            </a:pPr>
            <a:r>
              <a:rPr lang="en-US" sz="3516" u="none" spc="56">
                <a:solidFill>
                  <a:srgbClr val="FFFFFF"/>
                </a:solidFill>
                <a:latin typeface="Red Hat Display"/>
                <a:ea typeface="Red Hat Display"/>
                <a:cs typeface="Red Hat Display"/>
                <a:sym typeface="Red Hat Display"/>
              </a:rPr>
              <a:t>Enhanced Retrieval</a:t>
            </a:r>
          </a:p>
          <a:p>
            <a:pPr algn="l">
              <a:lnSpc>
                <a:spcPts val="4746"/>
              </a:lnSpc>
            </a:pPr>
            <a:endParaRPr lang="en-US" sz="3516" u="none" spc="56">
              <a:solidFill>
                <a:srgbClr val="FFFFFF"/>
              </a:solidFill>
              <a:latin typeface="Red Hat Display"/>
              <a:ea typeface="Red Hat Display"/>
              <a:cs typeface="Red Hat Display"/>
              <a:sym typeface="Red Hat Display"/>
            </a:endParaRPr>
          </a:p>
          <a:p>
            <a:pPr algn="l">
              <a:lnSpc>
                <a:spcPts val="4746"/>
              </a:lnSpc>
            </a:pPr>
            <a:endParaRPr lang="en-US" sz="3516" u="none" spc="56">
              <a:solidFill>
                <a:srgbClr val="FFFFFF"/>
              </a:solidFill>
              <a:latin typeface="Red Hat Display"/>
              <a:ea typeface="Red Hat Display"/>
              <a:cs typeface="Red Hat Display"/>
              <a:sym typeface="Red Hat Display"/>
            </a:endParaRPr>
          </a:p>
          <a:p>
            <a:pPr algn="l">
              <a:lnSpc>
                <a:spcPts val="4746"/>
              </a:lnSpc>
            </a:pPr>
            <a:endParaRPr lang="en-US" sz="3516" u="none" spc="56">
              <a:solidFill>
                <a:srgbClr val="FFFFFF"/>
              </a:solidFill>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18427" y="3271206"/>
            <a:ext cx="6600436" cy="2988898"/>
            <a:chOff x="0" y="0"/>
            <a:chExt cx="1738386" cy="787200"/>
          </a:xfrm>
        </p:grpSpPr>
        <p:sp>
          <p:nvSpPr>
            <p:cNvPr id="5" name="Freeform 5"/>
            <p:cNvSpPr/>
            <p:nvPr/>
          </p:nvSpPr>
          <p:spPr>
            <a:xfrm>
              <a:off x="0" y="0"/>
              <a:ext cx="1738386" cy="787200"/>
            </a:xfrm>
            <a:custGeom>
              <a:avLst/>
              <a:gdLst/>
              <a:ahLst/>
              <a:cxnLst/>
              <a:rect l="l" t="t" r="r" b="b"/>
              <a:pathLst>
                <a:path w="1738386" h="787200">
                  <a:moveTo>
                    <a:pt x="23459" y="0"/>
                  </a:moveTo>
                  <a:lnTo>
                    <a:pt x="1714927" y="0"/>
                  </a:lnTo>
                  <a:cubicBezTo>
                    <a:pt x="1721149" y="0"/>
                    <a:pt x="1727116" y="2472"/>
                    <a:pt x="1731515" y="6871"/>
                  </a:cubicBezTo>
                  <a:cubicBezTo>
                    <a:pt x="1735915" y="11270"/>
                    <a:pt x="1738386" y="17237"/>
                    <a:pt x="1738386" y="23459"/>
                  </a:cubicBezTo>
                  <a:lnTo>
                    <a:pt x="1738386" y="763741"/>
                  </a:lnTo>
                  <a:cubicBezTo>
                    <a:pt x="1738386" y="769962"/>
                    <a:pt x="1735915" y="775929"/>
                    <a:pt x="1731515" y="780329"/>
                  </a:cubicBezTo>
                  <a:cubicBezTo>
                    <a:pt x="1727116" y="784728"/>
                    <a:pt x="1721149" y="787200"/>
                    <a:pt x="1714927" y="787200"/>
                  </a:cubicBezTo>
                  <a:lnTo>
                    <a:pt x="23459" y="787200"/>
                  </a:lnTo>
                  <a:cubicBezTo>
                    <a:pt x="17237" y="787200"/>
                    <a:pt x="11270" y="784728"/>
                    <a:pt x="6871" y="780329"/>
                  </a:cubicBezTo>
                  <a:cubicBezTo>
                    <a:pt x="2472" y="775929"/>
                    <a:pt x="0" y="769962"/>
                    <a:pt x="0" y="763741"/>
                  </a:cubicBezTo>
                  <a:lnTo>
                    <a:pt x="0" y="23459"/>
                  </a:lnTo>
                  <a:cubicBezTo>
                    <a:pt x="0" y="17237"/>
                    <a:pt x="2472" y="11270"/>
                    <a:pt x="6871" y="6871"/>
                  </a:cubicBezTo>
                  <a:cubicBezTo>
                    <a:pt x="11270" y="2472"/>
                    <a:pt x="17237" y="0"/>
                    <a:pt x="23459"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38386" cy="8253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8010327" y="404262"/>
            <a:ext cx="6704168" cy="9517067"/>
            <a:chOff x="0" y="0"/>
            <a:chExt cx="2244276" cy="3185916"/>
          </a:xfrm>
        </p:grpSpPr>
        <p:sp>
          <p:nvSpPr>
            <p:cNvPr id="8" name="Freeform 8"/>
            <p:cNvSpPr/>
            <p:nvPr/>
          </p:nvSpPr>
          <p:spPr>
            <a:xfrm>
              <a:off x="0" y="0"/>
              <a:ext cx="2244276" cy="3185916"/>
            </a:xfrm>
            <a:custGeom>
              <a:avLst/>
              <a:gdLst/>
              <a:ahLst/>
              <a:cxnLst/>
              <a:rect l="l" t="t" r="r" b="b"/>
              <a:pathLst>
                <a:path w="2244276" h="3185916">
                  <a:moveTo>
                    <a:pt x="23096" y="0"/>
                  </a:moveTo>
                  <a:lnTo>
                    <a:pt x="2221180" y="0"/>
                  </a:lnTo>
                  <a:cubicBezTo>
                    <a:pt x="2233935" y="0"/>
                    <a:pt x="2244276" y="10340"/>
                    <a:pt x="2244276" y="23096"/>
                  </a:cubicBezTo>
                  <a:lnTo>
                    <a:pt x="2244276" y="3162821"/>
                  </a:lnTo>
                  <a:cubicBezTo>
                    <a:pt x="2244276" y="3168946"/>
                    <a:pt x="2241842" y="3174821"/>
                    <a:pt x="2237511" y="3179152"/>
                  </a:cubicBezTo>
                  <a:cubicBezTo>
                    <a:pt x="2233180" y="3183483"/>
                    <a:pt x="2227305" y="3185916"/>
                    <a:pt x="2221180" y="3185916"/>
                  </a:cubicBezTo>
                  <a:lnTo>
                    <a:pt x="23096" y="3185916"/>
                  </a:lnTo>
                  <a:cubicBezTo>
                    <a:pt x="10340" y="3185916"/>
                    <a:pt x="0" y="3175576"/>
                    <a:pt x="0" y="3162821"/>
                  </a:cubicBezTo>
                  <a:lnTo>
                    <a:pt x="0" y="23096"/>
                  </a:lnTo>
                  <a:cubicBezTo>
                    <a:pt x="0" y="10340"/>
                    <a:pt x="10340" y="0"/>
                    <a:pt x="23096" y="0"/>
                  </a:cubicBezTo>
                  <a:close/>
                </a:path>
              </a:pathLst>
            </a:custGeom>
            <a:solidFill>
              <a:srgbClr val="04001E"/>
            </a:solidFill>
            <a:ln w="38100" cap="sq">
              <a:solidFill>
                <a:srgbClr val="E5E1DA"/>
              </a:solidFill>
              <a:prstDash val="solid"/>
              <a:miter/>
            </a:ln>
          </p:spPr>
        </p:sp>
        <p:sp>
          <p:nvSpPr>
            <p:cNvPr id="9" name="TextBox 9"/>
            <p:cNvSpPr txBox="1"/>
            <p:nvPr/>
          </p:nvSpPr>
          <p:spPr>
            <a:xfrm>
              <a:off x="0" y="-38100"/>
              <a:ext cx="2244276" cy="3224016"/>
            </a:xfrm>
            <a:prstGeom prst="rect">
              <a:avLst/>
            </a:prstGeom>
          </p:spPr>
          <p:txBody>
            <a:bodyPr lIns="50800" tIns="50800" rIns="50800" bIns="50800" rtlCol="0" anchor="ctr"/>
            <a:lstStyle/>
            <a:p>
              <a:pPr marL="410209" lvl="1" indent="-205105" algn="ctr">
                <a:lnSpc>
                  <a:spcPts val="2659"/>
                </a:lnSpc>
                <a:buFont typeface="Arial"/>
                <a:buChar char="•"/>
              </a:pPr>
              <a:r>
                <a:rPr lang="en-US" sz="1899">
                  <a:solidFill>
                    <a:srgbClr val="000000"/>
                  </a:solidFill>
                  <a:latin typeface="Lato"/>
                  <a:ea typeface="Lato"/>
                  <a:cs typeface="Lato"/>
                  <a:sym typeface="Lato"/>
                </a:rPr>
                <a:t>fawf</a:t>
              </a:r>
            </a:p>
          </p:txBody>
        </p:sp>
      </p:grpSp>
      <p:sp>
        <p:nvSpPr>
          <p:cNvPr id="10" name="Freeform 10"/>
          <p:cNvSpPr/>
          <p:nvPr/>
        </p:nvSpPr>
        <p:spPr>
          <a:xfrm>
            <a:off x="8010327" y="365671"/>
            <a:ext cx="6704168" cy="9555658"/>
          </a:xfrm>
          <a:custGeom>
            <a:avLst/>
            <a:gdLst/>
            <a:ahLst/>
            <a:cxnLst/>
            <a:rect l="l" t="t" r="r" b="b"/>
            <a:pathLst>
              <a:path w="6704168" h="9555658">
                <a:moveTo>
                  <a:pt x="0" y="0"/>
                </a:moveTo>
                <a:lnTo>
                  <a:pt x="6704168" y="0"/>
                </a:lnTo>
                <a:lnTo>
                  <a:pt x="6704168" y="9555658"/>
                </a:lnTo>
                <a:lnTo>
                  <a:pt x="0" y="9555658"/>
                </a:lnTo>
                <a:lnTo>
                  <a:pt x="0" y="0"/>
                </a:lnTo>
                <a:close/>
              </a:path>
            </a:pathLst>
          </a:custGeom>
          <a:blipFill>
            <a:blip r:embed="rId4"/>
            <a:stretch>
              <a:fillRect/>
            </a:stretch>
          </a:blipFill>
        </p:spPr>
      </p:sp>
      <p:sp>
        <p:nvSpPr>
          <p:cNvPr id="11" name="TextBox 11"/>
          <p:cNvSpPr txBox="1"/>
          <p:nvPr/>
        </p:nvSpPr>
        <p:spPr>
          <a:xfrm>
            <a:off x="657225" y="3783275"/>
            <a:ext cx="6201711" cy="2015121"/>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Context</a:t>
            </a:r>
          </a:p>
          <a:p>
            <a:pPr algn="ctr">
              <a:lnSpc>
                <a:spcPts val="5238"/>
              </a:lnSpc>
            </a:pPr>
            <a:r>
              <a:rPr lang="en-US" sz="5400">
                <a:solidFill>
                  <a:srgbClr val="FFFFFF"/>
                </a:solidFill>
                <a:latin typeface="Archivo Black"/>
                <a:ea typeface="Archivo Black"/>
                <a:cs typeface="Archivo Black"/>
                <a:sym typeface="Archivo Black"/>
              </a:rPr>
              <a:t>enrichment</a:t>
            </a:r>
          </a:p>
          <a:p>
            <a:pPr algn="ctr">
              <a:lnSpc>
                <a:spcPts val="5238"/>
              </a:lnSpc>
            </a:pPr>
            <a:r>
              <a:rPr lang="en-US" sz="5400">
                <a:solidFill>
                  <a:srgbClr val="FFFFFF"/>
                </a:solidFill>
                <a:latin typeface="Archivo Black"/>
                <a:ea typeface="Archivo Black"/>
                <a:cs typeface="Archivo Black"/>
                <a:sym typeface="Archivo Black"/>
              </a:rPr>
              <a:t>strategy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2058291"/>
            <a:ext cx="16630429" cy="7314309"/>
          </a:xfrm>
          <a:custGeom>
            <a:avLst/>
            <a:gdLst/>
            <a:ahLst/>
            <a:cxnLst/>
            <a:rect l="l" t="t" r="r" b="b"/>
            <a:pathLst>
              <a:path w="16630429" h="7314309">
                <a:moveTo>
                  <a:pt x="0" y="0"/>
                </a:moveTo>
                <a:lnTo>
                  <a:pt x="16630429" y="0"/>
                </a:lnTo>
                <a:lnTo>
                  <a:pt x="16630429" y="7314309"/>
                </a:lnTo>
                <a:lnTo>
                  <a:pt x="0" y="7314309"/>
                </a:lnTo>
                <a:lnTo>
                  <a:pt x="0" y="0"/>
                </a:lnTo>
                <a:close/>
              </a:path>
            </a:pathLst>
          </a:custGeom>
          <a:blipFill>
            <a:blip r:embed="rId3"/>
            <a:stretch>
              <a:fillRect/>
            </a:stretch>
          </a:blipFill>
        </p:spPr>
      </p:sp>
      <p:sp>
        <p:nvSpPr>
          <p:cNvPr id="4" name="TextBox 4"/>
          <p:cNvSpPr txBox="1"/>
          <p:nvPr/>
        </p:nvSpPr>
        <p:spPr>
          <a:xfrm>
            <a:off x="2561887" y="609600"/>
            <a:ext cx="12783226" cy="1177290"/>
          </a:xfrm>
          <a:prstGeom prst="rect">
            <a:avLst/>
          </a:prstGeom>
        </p:spPr>
        <p:txBody>
          <a:bodyPr lIns="0" tIns="0" rIns="0" bIns="0" rtlCol="0" anchor="t">
            <a:spAutoFit/>
          </a:bodyPr>
          <a:lstStyle/>
          <a:p>
            <a:pPr marL="0" lvl="1" indent="0" algn="ctr">
              <a:lnSpc>
                <a:spcPts val="8730"/>
              </a:lnSpc>
              <a:spcBef>
                <a:spcPct val="0"/>
              </a:spcBef>
            </a:pPr>
            <a:r>
              <a:rPr lang="en-US" sz="9000">
                <a:solidFill>
                  <a:srgbClr val="FFFFFF"/>
                </a:solidFill>
                <a:latin typeface="Archivo Black"/>
                <a:ea typeface="Archivo Black"/>
                <a:cs typeface="Archivo Black"/>
                <a:sym typeface="Archivo Black"/>
              </a:rPr>
              <a:t>Overall Workflow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7192264"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718427" y="3271206"/>
            <a:ext cx="6600436" cy="2988898"/>
            <a:chOff x="0" y="0"/>
            <a:chExt cx="1738386" cy="787200"/>
          </a:xfrm>
        </p:grpSpPr>
        <p:sp>
          <p:nvSpPr>
            <p:cNvPr id="5" name="Freeform 5"/>
            <p:cNvSpPr/>
            <p:nvPr/>
          </p:nvSpPr>
          <p:spPr>
            <a:xfrm>
              <a:off x="0" y="0"/>
              <a:ext cx="1738386" cy="787200"/>
            </a:xfrm>
            <a:custGeom>
              <a:avLst/>
              <a:gdLst/>
              <a:ahLst/>
              <a:cxnLst/>
              <a:rect l="l" t="t" r="r" b="b"/>
              <a:pathLst>
                <a:path w="1738386" h="787200">
                  <a:moveTo>
                    <a:pt x="23459" y="0"/>
                  </a:moveTo>
                  <a:lnTo>
                    <a:pt x="1714927" y="0"/>
                  </a:lnTo>
                  <a:cubicBezTo>
                    <a:pt x="1721149" y="0"/>
                    <a:pt x="1727116" y="2472"/>
                    <a:pt x="1731515" y="6871"/>
                  </a:cubicBezTo>
                  <a:cubicBezTo>
                    <a:pt x="1735915" y="11270"/>
                    <a:pt x="1738386" y="17237"/>
                    <a:pt x="1738386" y="23459"/>
                  </a:cubicBezTo>
                  <a:lnTo>
                    <a:pt x="1738386" y="763741"/>
                  </a:lnTo>
                  <a:cubicBezTo>
                    <a:pt x="1738386" y="769962"/>
                    <a:pt x="1735915" y="775929"/>
                    <a:pt x="1731515" y="780329"/>
                  </a:cubicBezTo>
                  <a:cubicBezTo>
                    <a:pt x="1727116" y="784728"/>
                    <a:pt x="1721149" y="787200"/>
                    <a:pt x="1714927" y="787200"/>
                  </a:cubicBezTo>
                  <a:lnTo>
                    <a:pt x="23459" y="787200"/>
                  </a:lnTo>
                  <a:cubicBezTo>
                    <a:pt x="17237" y="787200"/>
                    <a:pt x="11270" y="784728"/>
                    <a:pt x="6871" y="780329"/>
                  </a:cubicBezTo>
                  <a:cubicBezTo>
                    <a:pt x="2472" y="775929"/>
                    <a:pt x="0" y="769962"/>
                    <a:pt x="0" y="763741"/>
                  </a:cubicBezTo>
                  <a:lnTo>
                    <a:pt x="0" y="23459"/>
                  </a:lnTo>
                  <a:cubicBezTo>
                    <a:pt x="0" y="17237"/>
                    <a:pt x="2472" y="11270"/>
                    <a:pt x="6871" y="6871"/>
                  </a:cubicBezTo>
                  <a:cubicBezTo>
                    <a:pt x="11270" y="2472"/>
                    <a:pt x="17237" y="0"/>
                    <a:pt x="23459"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38386" cy="82530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7561902" y="2542952"/>
            <a:ext cx="10289519" cy="6005357"/>
          </a:xfrm>
          <a:custGeom>
            <a:avLst/>
            <a:gdLst/>
            <a:ahLst/>
            <a:cxnLst/>
            <a:rect l="l" t="t" r="r" b="b"/>
            <a:pathLst>
              <a:path w="10289519" h="6005357">
                <a:moveTo>
                  <a:pt x="0" y="0"/>
                </a:moveTo>
                <a:lnTo>
                  <a:pt x="10289520" y="0"/>
                </a:lnTo>
                <a:lnTo>
                  <a:pt x="10289520" y="6005357"/>
                </a:lnTo>
                <a:lnTo>
                  <a:pt x="0" y="6005357"/>
                </a:lnTo>
                <a:lnTo>
                  <a:pt x="0" y="0"/>
                </a:lnTo>
                <a:close/>
              </a:path>
            </a:pathLst>
          </a:custGeom>
          <a:blipFill>
            <a:blip r:embed="rId4"/>
            <a:stretch>
              <a:fillRect l="-56497" t="-44731" r="-4625" b="-10556"/>
            </a:stretch>
          </a:blipFill>
        </p:spPr>
      </p:sp>
      <p:sp>
        <p:nvSpPr>
          <p:cNvPr id="8" name="TextBox 8"/>
          <p:cNvSpPr txBox="1"/>
          <p:nvPr/>
        </p:nvSpPr>
        <p:spPr>
          <a:xfrm>
            <a:off x="657225" y="4111887"/>
            <a:ext cx="6201711" cy="1357896"/>
          </a:xfrm>
          <a:prstGeom prst="rect">
            <a:avLst/>
          </a:prstGeom>
        </p:spPr>
        <p:txBody>
          <a:bodyPr lIns="0" tIns="0" rIns="0" bIns="0" rtlCol="0" anchor="t">
            <a:spAutoFit/>
          </a:bodyPr>
          <a:lstStyle/>
          <a:p>
            <a:pPr algn="ctr">
              <a:lnSpc>
                <a:spcPts val="5238"/>
              </a:lnSpc>
            </a:pPr>
            <a:r>
              <a:rPr lang="en-US" sz="5400">
                <a:solidFill>
                  <a:srgbClr val="FFFFFF"/>
                </a:solidFill>
                <a:latin typeface="Archivo Black"/>
                <a:ea typeface="Archivo Black"/>
                <a:cs typeface="Archivo Black"/>
                <a:sym typeface="Archivo Black"/>
              </a:rPr>
              <a:t>Sentiment Analysis</a:t>
            </a:r>
          </a:p>
        </p:txBody>
      </p:sp>
      <p:sp>
        <p:nvSpPr>
          <p:cNvPr id="9" name="Freeform 9"/>
          <p:cNvSpPr/>
          <p:nvPr/>
        </p:nvSpPr>
        <p:spPr>
          <a:xfrm>
            <a:off x="7580482" y="1772134"/>
            <a:ext cx="10270940" cy="780344"/>
          </a:xfrm>
          <a:custGeom>
            <a:avLst/>
            <a:gdLst/>
            <a:ahLst/>
            <a:cxnLst/>
            <a:rect l="l" t="t" r="r" b="b"/>
            <a:pathLst>
              <a:path w="10270940" h="780344">
                <a:moveTo>
                  <a:pt x="0" y="0"/>
                </a:moveTo>
                <a:lnTo>
                  <a:pt x="10270940" y="0"/>
                </a:lnTo>
                <a:lnTo>
                  <a:pt x="10270940" y="780343"/>
                </a:lnTo>
                <a:lnTo>
                  <a:pt x="0" y="780343"/>
                </a:lnTo>
                <a:lnTo>
                  <a:pt x="0" y="0"/>
                </a:lnTo>
                <a:close/>
              </a:path>
            </a:pathLst>
          </a:custGeom>
          <a:blipFill>
            <a:blip r:embed="rId4"/>
            <a:stretch>
              <a:fillRect l="-56961" t="-20434" r="-4453" b="-1074629"/>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9456655" y="666726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sp>
        <p:nvSpPr>
          <p:cNvPr id="4" name="Freeform 4"/>
          <p:cNvSpPr/>
          <p:nvPr/>
        </p:nvSpPr>
        <p:spPr>
          <a:xfrm>
            <a:off x="-2207810" y="-3420776"/>
            <a:ext cx="6799707" cy="8229600"/>
          </a:xfrm>
          <a:custGeom>
            <a:avLst/>
            <a:gdLst/>
            <a:ahLst/>
            <a:cxnLst/>
            <a:rect l="l" t="t" r="r" b="b"/>
            <a:pathLst>
              <a:path w="6799707" h="8229600">
                <a:moveTo>
                  <a:pt x="0" y="0"/>
                </a:moveTo>
                <a:lnTo>
                  <a:pt x="6799707" y="0"/>
                </a:lnTo>
                <a:lnTo>
                  <a:pt x="6799707" y="8229600"/>
                </a:lnTo>
                <a:lnTo>
                  <a:pt x="0" y="8229600"/>
                </a:lnTo>
                <a:lnTo>
                  <a:pt x="0" y="0"/>
                </a:lnTo>
                <a:close/>
              </a:path>
            </a:pathLst>
          </a:custGeom>
          <a:blipFill>
            <a:blip r:embed="rId4"/>
            <a:stretch>
              <a:fillRect/>
            </a:stretch>
          </a:blipFill>
        </p:spPr>
      </p:sp>
      <p:grpSp>
        <p:nvGrpSpPr>
          <p:cNvPr id="5" name="Group 5"/>
          <p:cNvGrpSpPr/>
          <p:nvPr/>
        </p:nvGrpSpPr>
        <p:grpSpPr>
          <a:xfrm>
            <a:off x="11672061" y="6595378"/>
            <a:ext cx="5587239" cy="2662922"/>
            <a:chOff x="0" y="0"/>
            <a:chExt cx="2065940" cy="984643"/>
          </a:xfrm>
        </p:grpSpPr>
        <p:sp>
          <p:nvSpPr>
            <p:cNvPr id="6" name="Freeform 6"/>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2042687" y="1028700"/>
            <a:ext cx="6207193" cy="6035037"/>
          </a:xfrm>
          <a:custGeom>
            <a:avLst/>
            <a:gdLst/>
            <a:ahLst/>
            <a:cxnLst/>
            <a:rect l="l" t="t" r="r" b="b"/>
            <a:pathLst>
              <a:path w="6207193" h="6035037">
                <a:moveTo>
                  <a:pt x="0" y="0"/>
                </a:moveTo>
                <a:lnTo>
                  <a:pt x="6207194" y="0"/>
                </a:lnTo>
                <a:lnTo>
                  <a:pt x="6207194" y="6035037"/>
                </a:lnTo>
                <a:lnTo>
                  <a:pt x="0" y="6035037"/>
                </a:lnTo>
                <a:lnTo>
                  <a:pt x="0" y="0"/>
                </a:lnTo>
                <a:close/>
              </a:path>
            </a:pathLst>
          </a:custGeom>
          <a:blipFill>
            <a:blip r:embed="rId5"/>
            <a:stretch>
              <a:fillRect/>
            </a:stretch>
          </a:blipFill>
        </p:spPr>
      </p:sp>
      <p:sp>
        <p:nvSpPr>
          <p:cNvPr id="9" name="TextBox 9"/>
          <p:cNvSpPr txBox="1"/>
          <p:nvPr/>
        </p:nvSpPr>
        <p:spPr>
          <a:xfrm>
            <a:off x="11824829" y="6750062"/>
            <a:ext cx="5314398" cy="3047175"/>
          </a:xfrm>
          <a:prstGeom prst="rect">
            <a:avLst/>
          </a:prstGeom>
        </p:spPr>
        <p:txBody>
          <a:bodyPr lIns="0" tIns="0" rIns="0" bIns="0" rtlCol="0" anchor="t">
            <a:spAutoFit/>
          </a:bodyPr>
          <a:lstStyle/>
          <a:p>
            <a:pPr marL="0" lvl="0" indent="0" algn="ctr">
              <a:lnSpc>
                <a:spcPts val="3501"/>
              </a:lnSpc>
              <a:spcBef>
                <a:spcPct val="0"/>
              </a:spcBef>
            </a:pPr>
            <a:r>
              <a:rPr lang="en-US" sz="2349" b="1">
                <a:solidFill>
                  <a:srgbClr val="FFFFFF"/>
                </a:solidFill>
                <a:latin typeface="Red Hat Display Bold"/>
                <a:ea typeface="Red Hat Display Bold"/>
                <a:cs typeface="Red Hat Display Bold"/>
                <a:sym typeface="Red Hat Display Bold"/>
              </a:rPr>
              <a:t>A</a:t>
            </a:r>
            <a:r>
              <a:rPr lang="en-US" sz="2349" b="1" u="none" strike="noStrike">
                <a:solidFill>
                  <a:srgbClr val="FFFFFF"/>
                </a:solidFill>
                <a:latin typeface="Red Hat Display Bold"/>
                <a:ea typeface="Red Hat Display Bold"/>
                <a:cs typeface="Red Hat Display Bold"/>
                <a:sym typeface="Red Hat Display Bold"/>
              </a:rPr>
              <a:t>synchronous n8n Integration:</a:t>
            </a:r>
          </a:p>
          <a:p>
            <a:pPr marL="0" lvl="0" indent="0" algn="ctr">
              <a:lnSpc>
                <a:spcPts val="3501"/>
              </a:lnSpc>
              <a:spcBef>
                <a:spcPct val="0"/>
              </a:spcBef>
            </a:pPr>
            <a:r>
              <a:rPr lang="en-US" sz="2349" u="none" strike="noStrike">
                <a:solidFill>
                  <a:srgbClr val="FFFFFF"/>
                </a:solidFill>
                <a:latin typeface="Red Hat Display"/>
                <a:ea typeface="Red Hat Display"/>
                <a:cs typeface="Red Hat Display"/>
                <a:sym typeface="Red Hat Display"/>
              </a:rPr>
              <a:t>Our system integrates with n8n to trigger external workflows by sending data payloads asynchronously using a background thread. </a:t>
            </a: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p:txBody>
      </p:sp>
      <p:sp>
        <p:nvSpPr>
          <p:cNvPr id="10" name="AutoShape 10"/>
          <p:cNvSpPr/>
          <p:nvPr/>
        </p:nvSpPr>
        <p:spPr>
          <a:xfrm flipH="1">
            <a:off x="8249881" y="4046219"/>
            <a:ext cx="4260927" cy="0"/>
          </a:xfrm>
          <a:prstGeom prst="line">
            <a:avLst/>
          </a:prstGeom>
          <a:ln w="38100" cap="flat">
            <a:solidFill>
              <a:srgbClr val="FFFFFF"/>
            </a:solidFill>
            <a:prstDash val="solid"/>
            <a:headEnd type="none" w="sm" len="sm"/>
            <a:tailEnd type="triangle" w="lg" len="med"/>
          </a:ln>
        </p:spPr>
      </p:sp>
      <p:sp>
        <p:nvSpPr>
          <p:cNvPr id="11" name="AutoShape 11"/>
          <p:cNvSpPr/>
          <p:nvPr/>
        </p:nvSpPr>
        <p:spPr>
          <a:xfrm flipH="1" flipV="1">
            <a:off x="12489852" y="4046219"/>
            <a:ext cx="0" cy="2512723"/>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6995244" y="2635327"/>
            <a:ext cx="4297511" cy="4346993"/>
            <a:chOff x="0" y="0"/>
            <a:chExt cx="5730015" cy="5795991"/>
          </a:xfrm>
        </p:grpSpPr>
        <p:sp>
          <p:nvSpPr>
            <p:cNvPr id="4" name="Freeform 4"/>
            <p:cNvSpPr/>
            <p:nvPr/>
          </p:nvSpPr>
          <p:spPr>
            <a:xfrm rot="-7900054">
              <a:off x="402458" y="402817"/>
              <a:ext cx="1350642" cy="606561"/>
            </a:xfrm>
            <a:custGeom>
              <a:avLst/>
              <a:gdLst/>
              <a:ahLst/>
              <a:cxnLst/>
              <a:rect l="l" t="t" r="r" b="b"/>
              <a:pathLst>
                <a:path w="1350642" h="606561">
                  <a:moveTo>
                    <a:pt x="0" y="0"/>
                  </a:moveTo>
                  <a:lnTo>
                    <a:pt x="1350641" y="0"/>
                  </a:lnTo>
                  <a:lnTo>
                    <a:pt x="1350641" y="606561"/>
                  </a:lnTo>
                  <a:lnTo>
                    <a:pt x="0" y="60656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rot="-2700000">
              <a:off x="3960453" y="418109"/>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rot="3209977">
              <a:off x="4029166" y="4769452"/>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rot="7866361">
              <a:off x="377227" y="4737277"/>
              <a:ext cx="1350642" cy="606561"/>
            </a:xfrm>
            <a:custGeom>
              <a:avLst/>
              <a:gdLst/>
              <a:ahLst/>
              <a:cxnLst/>
              <a:rect l="l" t="t" r="r" b="b"/>
              <a:pathLst>
                <a:path w="1350642" h="606561">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TextBox 8"/>
            <p:cNvSpPr txBox="1"/>
            <p:nvPr/>
          </p:nvSpPr>
          <p:spPr>
            <a:xfrm>
              <a:off x="0" y="1736398"/>
              <a:ext cx="5730015" cy="2415758"/>
            </a:xfrm>
            <a:prstGeom prst="rect">
              <a:avLst/>
            </a:prstGeom>
          </p:spPr>
          <p:txBody>
            <a:bodyPr lIns="0" tIns="0" rIns="0" bIns="0" rtlCol="0" anchor="t">
              <a:spAutoFit/>
            </a:bodyPr>
            <a:lstStyle/>
            <a:p>
              <a:pPr marL="0" lvl="1" indent="0" algn="ctr">
                <a:lnSpc>
                  <a:spcPts val="6790"/>
                </a:lnSpc>
                <a:spcBef>
                  <a:spcPct val="0"/>
                </a:spcBef>
              </a:pPr>
              <a:r>
                <a:rPr lang="en-US" sz="7000">
                  <a:solidFill>
                    <a:srgbClr val="FFFFFF"/>
                  </a:solidFill>
                  <a:latin typeface="Archivo Black"/>
                  <a:ea typeface="Archivo Black"/>
                  <a:cs typeface="Archivo Black"/>
                  <a:sym typeface="Archivo Black"/>
                </a:rPr>
                <a:t>Others</a:t>
              </a:r>
            </a:p>
            <a:p>
              <a:pPr algn="ctr">
                <a:lnSpc>
                  <a:spcPts val="6790"/>
                </a:lnSpc>
                <a:spcBef>
                  <a:spcPct val="0"/>
                </a:spcBef>
              </a:pPr>
              <a:r>
                <a:rPr lang="en-US" sz="7000" u="none" strike="noStrike">
                  <a:solidFill>
                    <a:srgbClr val="FFFFFF"/>
                  </a:solidFill>
                  <a:latin typeface="Archivo Black"/>
                  <a:ea typeface="Archivo Black"/>
                  <a:cs typeface="Archivo Black"/>
                  <a:sym typeface="Archivo Black"/>
                </a:rPr>
                <a:t>Features</a:t>
              </a:r>
            </a:p>
          </p:txBody>
        </p:sp>
      </p:grpSp>
      <p:sp>
        <p:nvSpPr>
          <p:cNvPr id="9" name="Freeform 9"/>
          <p:cNvSpPr/>
          <p:nvPr/>
        </p:nvSpPr>
        <p:spPr>
          <a:xfrm rot="6626729" flipH="1">
            <a:off x="9456655" y="666726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5"/>
            <a:stretch>
              <a:fillRect/>
            </a:stretch>
          </a:blipFill>
        </p:spPr>
      </p:sp>
      <p:sp>
        <p:nvSpPr>
          <p:cNvPr id="10" name="Freeform 10"/>
          <p:cNvSpPr/>
          <p:nvPr/>
        </p:nvSpPr>
        <p:spPr>
          <a:xfrm>
            <a:off x="-2207810" y="-3420776"/>
            <a:ext cx="6799707" cy="8229600"/>
          </a:xfrm>
          <a:custGeom>
            <a:avLst/>
            <a:gdLst/>
            <a:ahLst/>
            <a:cxnLst/>
            <a:rect l="l" t="t" r="r" b="b"/>
            <a:pathLst>
              <a:path w="6799707" h="8229600">
                <a:moveTo>
                  <a:pt x="0" y="0"/>
                </a:moveTo>
                <a:lnTo>
                  <a:pt x="6799707" y="0"/>
                </a:lnTo>
                <a:lnTo>
                  <a:pt x="6799707" y="8229600"/>
                </a:lnTo>
                <a:lnTo>
                  <a:pt x="0" y="8229600"/>
                </a:lnTo>
                <a:lnTo>
                  <a:pt x="0" y="0"/>
                </a:lnTo>
                <a:close/>
              </a:path>
            </a:pathLst>
          </a:custGeom>
          <a:blipFill>
            <a:blip r:embed="rId6"/>
            <a:stretch>
              <a:fillRect/>
            </a:stretch>
          </a:blipFill>
        </p:spPr>
      </p:sp>
      <p:grpSp>
        <p:nvGrpSpPr>
          <p:cNvPr id="11" name="Group 11"/>
          <p:cNvGrpSpPr/>
          <p:nvPr/>
        </p:nvGrpSpPr>
        <p:grpSpPr>
          <a:xfrm>
            <a:off x="1028700" y="1028700"/>
            <a:ext cx="5587239" cy="2662922"/>
            <a:chOff x="0" y="0"/>
            <a:chExt cx="2065940" cy="984643"/>
          </a:xfrm>
        </p:grpSpPr>
        <p:sp>
          <p:nvSpPr>
            <p:cNvPr id="12" name="Freeform 12"/>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028700" y="6598786"/>
            <a:ext cx="5587239" cy="2662922"/>
            <a:chOff x="0" y="0"/>
            <a:chExt cx="2065940" cy="984643"/>
          </a:xfrm>
        </p:grpSpPr>
        <p:sp>
          <p:nvSpPr>
            <p:cNvPr id="15" name="Freeform 15"/>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6" name="TextBox 16"/>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11672061" y="1025292"/>
            <a:ext cx="5587239" cy="2662922"/>
            <a:chOff x="0" y="0"/>
            <a:chExt cx="2065940" cy="984643"/>
          </a:xfrm>
        </p:grpSpPr>
        <p:sp>
          <p:nvSpPr>
            <p:cNvPr id="18" name="Freeform 18"/>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19" name="TextBox 19"/>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a:off x="11672061" y="6595378"/>
            <a:ext cx="5587239" cy="2662922"/>
            <a:chOff x="0" y="0"/>
            <a:chExt cx="2065940" cy="984643"/>
          </a:xfrm>
        </p:grpSpPr>
        <p:sp>
          <p:nvSpPr>
            <p:cNvPr id="21" name="Freeform 21"/>
            <p:cNvSpPr/>
            <p:nvPr/>
          </p:nvSpPr>
          <p:spPr>
            <a:xfrm>
              <a:off x="0" y="0"/>
              <a:ext cx="2065940" cy="984643"/>
            </a:xfrm>
            <a:custGeom>
              <a:avLst/>
              <a:gdLst/>
              <a:ahLst/>
              <a:cxnLst/>
              <a:rect l="l" t="t" r="r" b="b"/>
              <a:pathLst>
                <a:path w="2065940" h="984643">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id="22" name="TextBox 22"/>
            <p:cNvSpPr txBox="1"/>
            <p:nvPr/>
          </p:nvSpPr>
          <p:spPr>
            <a:xfrm>
              <a:off x="0" y="-38100"/>
              <a:ext cx="2065940" cy="10227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3" name="TextBox 23"/>
          <p:cNvSpPr txBox="1"/>
          <p:nvPr/>
        </p:nvSpPr>
        <p:spPr>
          <a:xfrm>
            <a:off x="11891504" y="1273316"/>
            <a:ext cx="5088826" cy="2109723"/>
          </a:xfrm>
          <a:prstGeom prst="rect">
            <a:avLst/>
          </a:prstGeom>
        </p:spPr>
        <p:txBody>
          <a:bodyPr lIns="0" tIns="0" rIns="0" bIns="0" rtlCol="0" anchor="t">
            <a:spAutoFit/>
          </a:bodyPr>
          <a:lstStyle/>
          <a:p>
            <a:pPr marL="0" lvl="0" indent="0" algn="ctr">
              <a:lnSpc>
                <a:spcPts val="3054"/>
              </a:lnSpc>
            </a:pPr>
            <a:r>
              <a:rPr lang="en-US" sz="2050" b="1">
                <a:solidFill>
                  <a:srgbClr val="FFFFFF"/>
                </a:solidFill>
                <a:latin typeface="Red Hat Display Bold"/>
                <a:ea typeface="Red Hat Display Bold"/>
                <a:cs typeface="Red Hat Display Bold"/>
                <a:sym typeface="Red Hat Display Bold"/>
              </a:rPr>
              <a:t>Context-Awa</a:t>
            </a:r>
            <a:r>
              <a:rPr lang="en-US" sz="2050" b="1" u="none" strike="noStrike">
                <a:solidFill>
                  <a:srgbClr val="FFFFFF"/>
                </a:solidFill>
                <a:latin typeface="Red Hat Display Bold"/>
                <a:ea typeface="Red Hat Display Bold"/>
                <a:cs typeface="Red Hat Display Bold"/>
                <a:sym typeface="Red Hat Display Bold"/>
              </a:rPr>
              <a:t>re Conversational Memory:</a:t>
            </a:r>
          </a:p>
          <a:p>
            <a:pPr marL="0" lvl="0" indent="0" algn="ctr">
              <a:lnSpc>
                <a:spcPts val="3501"/>
              </a:lnSpc>
            </a:pPr>
            <a:r>
              <a:rPr lang="en-US" sz="2350" u="none" strike="noStrike">
                <a:solidFill>
                  <a:srgbClr val="FFFFFF"/>
                </a:solidFill>
                <a:latin typeface="Red Hat Display"/>
                <a:ea typeface="Red Hat Display"/>
                <a:cs typeface="Red Hat Display"/>
                <a:sym typeface="Red Hat Display"/>
              </a:rPr>
              <a:t>Our platform builds a dynamic memory for each individual user session, creating a unique and persistent conversational thread.</a:t>
            </a:r>
          </a:p>
        </p:txBody>
      </p:sp>
      <p:sp>
        <p:nvSpPr>
          <p:cNvPr id="24" name="TextBox 24"/>
          <p:cNvSpPr txBox="1"/>
          <p:nvPr/>
        </p:nvSpPr>
        <p:spPr>
          <a:xfrm>
            <a:off x="1201569" y="6760711"/>
            <a:ext cx="5266492" cy="2315912"/>
          </a:xfrm>
          <a:prstGeom prst="rect">
            <a:avLst/>
          </a:prstGeom>
        </p:spPr>
        <p:txBody>
          <a:bodyPr lIns="0" tIns="0" rIns="0" bIns="0" rtlCol="0" anchor="t">
            <a:spAutoFit/>
          </a:bodyPr>
          <a:lstStyle/>
          <a:p>
            <a:pPr algn="ctr">
              <a:lnSpc>
                <a:spcPts val="2643"/>
              </a:lnSpc>
            </a:pPr>
            <a:r>
              <a:rPr lang="en-US" sz="1774" b="1">
                <a:solidFill>
                  <a:srgbClr val="FFFFFF"/>
                </a:solidFill>
                <a:latin typeface="Red Hat Display Bold"/>
                <a:ea typeface="Red Hat Display Bold"/>
                <a:cs typeface="Red Hat Display Bold"/>
                <a:sym typeface="Red Hat Display Bold"/>
              </a:rPr>
              <a:t>MultiModal Understanding:</a:t>
            </a:r>
          </a:p>
          <a:p>
            <a:pPr marL="0" lvl="0" indent="0" algn="ctr">
              <a:lnSpc>
                <a:spcPts val="2643"/>
              </a:lnSpc>
            </a:pPr>
            <a:r>
              <a:rPr lang="en-US" sz="1774">
                <a:solidFill>
                  <a:srgbClr val="FFFFFF"/>
                </a:solidFill>
                <a:latin typeface="Red Hat Display"/>
                <a:ea typeface="Red Hat Display"/>
                <a:cs typeface="Red Hat Display"/>
                <a:sym typeface="Red Hat Display"/>
              </a:rPr>
              <a:t>A</a:t>
            </a:r>
            <a:r>
              <a:rPr lang="en-US" sz="1774" u="none" strike="noStrike">
                <a:solidFill>
                  <a:srgbClr val="FFFFFF"/>
                </a:solidFill>
                <a:latin typeface="Red Hat Display"/>
                <a:ea typeface="Red Hat Display"/>
                <a:cs typeface="Red Hat Display"/>
                <a:sym typeface="Red Hat Display"/>
              </a:rPr>
              <a:t> MultiModalProcessor converts files into standardized text before sending them to the LLM. It detects the file type and uses specialized parsers—extracting text from documents, OCR for images, summaries for structured data, and metadata from media.</a:t>
            </a:r>
          </a:p>
        </p:txBody>
      </p:sp>
      <p:sp>
        <p:nvSpPr>
          <p:cNvPr id="25" name="TextBox 25"/>
          <p:cNvSpPr txBox="1"/>
          <p:nvPr/>
        </p:nvSpPr>
        <p:spPr>
          <a:xfrm>
            <a:off x="1239669" y="1261975"/>
            <a:ext cx="5079301" cy="2103832"/>
          </a:xfrm>
          <a:prstGeom prst="rect">
            <a:avLst/>
          </a:prstGeom>
        </p:spPr>
        <p:txBody>
          <a:bodyPr lIns="0" tIns="0" rIns="0" bIns="0" rtlCol="0" anchor="t">
            <a:spAutoFit/>
          </a:bodyPr>
          <a:lstStyle/>
          <a:p>
            <a:pPr algn="ctr">
              <a:lnSpc>
                <a:spcPts val="4265"/>
              </a:lnSpc>
            </a:pPr>
            <a:r>
              <a:rPr lang="en-US" sz="3046" b="1">
                <a:solidFill>
                  <a:srgbClr val="FFFFFF"/>
                </a:solidFill>
                <a:latin typeface="Red Hat Display Bold"/>
                <a:ea typeface="Red Hat Display Bold"/>
                <a:cs typeface="Red Hat Display Bold"/>
                <a:sym typeface="Red Hat Display Bold"/>
              </a:rPr>
              <a:t>Real time data:</a:t>
            </a:r>
          </a:p>
          <a:p>
            <a:pPr algn="ctr">
              <a:lnSpc>
                <a:spcPts val="4265"/>
              </a:lnSpc>
              <a:spcBef>
                <a:spcPct val="0"/>
              </a:spcBef>
            </a:pPr>
            <a:r>
              <a:rPr lang="en-US" sz="3046">
                <a:solidFill>
                  <a:srgbClr val="FFFFFF"/>
                </a:solidFill>
                <a:latin typeface="Red Hat Display"/>
                <a:ea typeface="Red Hat Display"/>
                <a:cs typeface="Red Hat Display"/>
                <a:sym typeface="Red Hat Display"/>
              </a:rPr>
              <a:t>We used  privacy-focused search engine (duckduckgo)  for real time data awareness</a:t>
            </a:r>
          </a:p>
        </p:txBody>
      </p:sp>
      <p:sp>
        <p:nvSpPr>
          <p:cNvPr id="26" name="TextBox 26"/>
          <p:cNvSpPr txBox="1"/>
          <p:nvPr/>
        </p:nvSpPr>
        <p:spPr>
          <a:xfrm>
            <a:off x="11824829" y="6750062"/>
            <a:ext cx="5314398" cy="3047175"/>
          </a:xfrm>
          <a:prstGeom prst="rect">
            <a:avLst/>
          </a:prstGeom>
        </p:spPr>
        <p:txBody>
          <a:bodyPr lIns="0" tIns="0" rIns="0" bIns="0" rtlCol="0" anchor="t">
            <a:spAutoFit/>
          </a:bodyPr>
          <a:lstStyle/>
          <a:p>
            <a:pPr marL="0" lvl="0" indent="0" algn="ctr">
              <a:lnSpc>
                <a:spcPts val="3501"/>
              </a:lnSpc>
              <a:spcBef>
                <a:spcPct val="0"/>
              </a:spcBef>
            </a:pPr>
            <a:r>
              <a:rPr lang="en-US" sz="2349" b="1">
                <a:solidFill>
                  <a:srgbClr val="FFFFFF"/>
                </a:solidFill>
                <a:latin typeface="Red Hat Display Bold"/>
                <a:ea typeface="Red Hat Display Bold"/>
                <a:cs typeface="Red Hat Display Bold"/>
                <a:sym typeface="Red Hat Display Bold"/>
              </a:rPr>
              <a:t>A</a:t>
            </a:r>
            <a:r>
              <a:rPr lang="en-US" sz="2349" b="1" u="none" strike="noStrike">
                <a:solidFill>
                  <a:srgbClr val="FFFFFF"/>
                </a:solidFill>
                <a:latin typeface="Red Hat Display Bold"/>
                <a:ea typeface="Red Hat Display Bold"/>
                <a:cs typeface="Red Hat Display Bold"/>
                <a:sym typeface="Red Hat Display Bold"/>
              </a:rPr>
              <a:t>synchronous n8n Integration:</a:t>
            </a:r>
          </a:p>
          <a:p>
            <a:pPr marL="0" lvl="0" indent="0" algn="ctr">
              <a:lnSpc>
                <a:spcPts val="3501"/>
              </a:lnSpc>
              <a:spcBef>
                <a:spcPct val="0"/>
              </a:spcBef>
            </a:pPr>
            <a:r>
              <a:rPr lang="en-US" sz="2349" u="none" strike="noStrike">
                <a:solidFill>
                  <a:srgbClr val="FFFFFF"/>
                </a:solidFill>
                <a:latin typeface="Red Hat Display"/>
                <a:ea typeface="Red Hat Display"/>
                <a:cs typeface="Red Hat Display"/>
                <a:sym typeface="Red Hat Display"/>
              </a:rPr>
              <a:t>Our system integrates with n8n to trigger external workflows by sending data payloads asynchronously using a background thread. </a:t>
            </a: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a:p>
            <a:pPr marL="0" lvl="0" indent="0" algn="ctr">
              <a:lnSpc>
                <a:spcPts val="3501"/>
              </a:lnSpc>
              <a:spcBef>
                <a:spcPct val="0"/>
              </a:spcBef>
            </a:pPr>
            <a:endParaRPr lang="en-US" sz="2349" u="none" strike="noStrike">
              <a:solidFill>
                <a:srgbClr val="FFFFFF"/>
              </a:solidFill>
              <a:latin typeface="Red Hat Display"/>
              <a:ea typeface="Red Hat Display"/>
              <a:cs typeface="Red Hat Display"/>
              <a:sym typeface="Red Hat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1334432" y="4646809"/>
            <a:ext cx="20061513" cy="0"/>
          </a:xfrm>
          <a:prstGeom prst="line">
            <a:avLst/>
          </a:prstGeom>
          <a:ln w="28575" cap="flat">
            <a:solidFill>
              <a:srgbClr val="F4F4ED"/>
            </a:solidFill>
            <a:prstDash val="solid"/>
            <a:headEnd type="none" w="sm" len="sm"/>
            <a:tailEnd type="none" w="sm" len="sm"/>
          </a:ln>
        </p:spPr>
      </p:sp>
      <p:sp>
        <p:nvSpPr>
          <p:cNvPr id="4" name="TextBox 4"/>
          <p:cNvSpPr txBox="1"/>
          <p:nvPr/>
        </p:nvSpPr>
        <p:spPr>
          <a:xfrm>
            <a:off x="13459047" y="5743533"/>
            <a:ext cx="3844858" cy="352234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To complete the multimodal experience, integrate voice input using Deepgram STT or a similar API, allowing users to speak instead of type. Enhance usability by automatically playing Deepgram’s TTS output when a response is received. Support real-time image or audio uploads to further enrich interaction. Optionally, track user sentiment, session data, or interaction patterns for personalization or analytics in future iterations.</a:t>
            </a:r>
          </a:p>
          <a:p>
            <a:pPr algn="l">
              <a:lnSpc>
                <a:spcPts val="2340"/>
              </a:lnSpc>
            </a:pPr>
            <a:endParaRPr lang="en-US" sz="1500">
              <a:solidFill>
                <a:srgbClr val="FFFFFF"/>
              </a:solidFill>
              <a:latin typeface="Red Hat Display"/>
              <a:ea typeface="Red Hat Display"/>
              <a:cs typeface="Red Hat Display"/>
              <a:sym typeface="Red Hat Display"/>
            </a:endParaRPr>
          </a:p>
        </p:txBody>
      </p:sp>
      <p:sp>
        <p:nvSpPr>
          <p:cNvPr id="5" name="Freeform 5"/>
          <p:cNvSpPr/>
          <p:nvPr/>
        </p:nvSpPr>
        <p:spPr>
          <a:xfrm>
            <a:off x="1188650" y="3544243"/>
            <a:ext cx="699039" cy="866808"/>
          </a:xfrm>
          <a:custGeom>
            <a:avLst/>
            <a:gdLst/>
            <a:ahLst/>
            <a:cxnLst/>
            <a:rect l="l" t="t" r="r" b="b"/>
            <a:pathLst>
              <a:path w="699039" h="866808">
                <a:moveTo>
                  <a:pt x="0" y="0"/>
                </a:moveTo>
                <a:lnTo>
                  <a:pt x="699039" y="0"/>
                </a:lnTo>
                <a:lnTo>
                  <a:pt x="699039" y="866808"/>
                </a:lnTo>
                <a:lnTo>
                  <a:pt x="0" y="866808"/>
                </a:lnTo>
                <a:lnTo>
                  <a:pt x="0" y="0"/>
                </a:lnTo>
                <a:close/>
              </a:path>
            </a:pathLst>
          </a:custGeom>
          <a:blipFill>
            <a:blip r:embed="rId3"/>
            <a:stretch>
              <a:fillRect/>
            </a:stretch>
          </a:blipFill>
        </p:spPr>
      </p:sp>
      <p:sp>
        <p:nvSpPr>
          <p:cNvPr id="6" name="Freeform 6"/>
          <p:cNvSpPr/>
          <p:nvPr/>
        </p:nvSpPr>
        <p:spPr>
          <a:xfrm>
            <a:off x="5236223" y="3119812"/>
            <a:ext cx="1715671" cy="1715671"/>
          </a:xfrm>
          <a:custGeom>
            <a:avLst/>
            <a:gdLst/>
            <a:ahLst/>
            <a:cxnLst/>
            <a:rect l="l" t="t" r="r" b="b"/>
            <a:pathLst>
              <a:path w="1715671" h="1715671">
                <a:moveTo>
                  <a:pt x="0" y="0"/>
                </a:moveTo>
                <a:lnTo>
                  <a:pt x="1715671" y="0"/>
                </a:lnTo>
                <a:lnTo>
                  <a:pt x="1715671" y="1715671"/>
                </a:lnTo>
                <a:lnTo>
                  <a:pt x="0" y="1715671"/>
                </a:lnTo>
                <a:lnTo>
                  <a:pt x="0" y="0"/>
                </a:lnTo>
                <a:close/>
              </a:path>
            </a:pathLst>
          </a:custGeom>
          <a:blipFill>
            <a:blip r:embed="rId4"/>
            <a:stretch>
              <a:fillRect/>
            </a:stretch>
          </a:blipFill>
        </p:spPr>
      </p:sp>
      <p:sp>
        <p:nvSpPr>
          <p:cNvPr id="7" name="Freeform 7"/>
          <p:cNvSpPr/>
          <p:nvPr/>
        </p:nvSpPr>
        <p:spPr>
          <a:xfrm>
            <a:off x="9103300" y="3549671"/>
            <a:ext cx="861380" cy="861380"/>
          </a:xfrm>
          <a:custGeom>
            <a:avLst/>
            <a:gdLst/>
            <a:ahLst/>
            <a:cxnLst/>
            <a:rect l="l" t="t" r="r" b="b"/>
            <a:pathLst>
              <a:path w="861380" h="861380">
                <a:moveTo>
                  <a:pt x="0" y="0"/>
                </a:moveTo>
                <a:lnTo>
                  <a:pt x="861380" y="0"/>
                </a:lnTo>
                <a:lnTo>
                  <a:pt x="861380" y="861380"/>
                </a:lnTo>
                <a:lnTo>
                  <a:pt x="0" y="861380"/>
                </a:lnTo>
                <a:lnTo>
                  <a:pt x="0" y="0"/>
                </a:lnTo>
                <a:close/>
              </a:path>
            </a:pathLst>
          </a:custGeom>
          <a:blipFill>
            <a:blip r:embed="rId5"/>
            <a:stretch>
              <a:fillRect/>
            </a:stretch>
          </a:blipFill>
        </p:spPr>
      </p:sp>
      <p:sp>
        <p:nvSpPr>
          <p:cNvPr id="8" name="Freeform 8"/>
          <p:cNvSpPr/>
          <p:nvPr/>
        </p:nvSpPr>
        <p:spPr>
          <a:xfrm>
            <a:off x="13440745" y="3549671"/>
            <a:ext cx="861380" cy="861380"/>
          </a:xfrm>
          <a:custGeom>
            <a:avLst/>
            <a:gdLst/>
            <a:ahLst/>
            <a:cxnLst/>
            <a:rect l="l" t="t" r="r" b="b"/>
            <a:pathLst>
              <a:path w="861380" h="861380">
                <a:moveTo>
                  <a:pt x="0" y="0"/>
                </a:moveTo>
                <a:lnTo>
                  <a:pt x="861380" y="0"/>
                </a:lnTo>
                <a:lnTo>
                  <a:pt x="861380" y="861380"/>
                </a:lnTo>
                <a:lnTo>
                  <a:pt x="0" y="861380"/>
                </a:lnTo>
                <a:lnTo>
                  <a:pt x="0" y="0"/>
                </a:lnTo>
                <a:close/>
              </a:path>
            </a:pathLst>
          </a:custGeom>
          <a:blipFill>
            <a:blip r:embed="rId6"/>
            <a:stretch>
              <a:fillRect/>
            </a:stretch>
          </a:blipFill>
        </p:spPr>
      </p:sp>
      <p:sp>
        <p:nvSpPr>
          <p:cNvPr id="9" name="TextBox 9"/>
          <p:cNvSpPr txBox="1"/>
          <p:nvPr/>
        </p:nvSpPr>
        <p:spPr>
          <a:xfrm>
            <a:off x="2752387" y="1718946"/>
            <a:ext cx="12783226" cy="1177290"/>
          </a:xfrm>
          <a:prstGeom prst="rect">
            <a:avLst/>
          </a:prstGeom>
        </p:spPr>
        <p:txBody>
          <a:bodyPr lIns="0" tIns="0" rIns="0" bIns="0" rtlCol="0" anchor="t">
            <a:spAutoFit/>
          </a:bodyPr>
          <a:lstStyle/>
          <a:p>
            <a:pPr marL="0" lvl="1" indent="0" algn="ctr">
              <a:lnSpc>
                <a:spcPts val="8730"/>
              </a:lnSpc>
              <a:spcBef>
                <a:spcPct val="0"/>
              </a:spcBef>
            </a:pPr>
            <a:r>
              <a:rPr lang="en-US" sz="9000">
                <a:solidFill>
                  <a:srgbClr val="FFFFFF"/>
                </a:solidFill>
                <a:latin typeface="Archivo Black"/>
                <a:ea typeface="Archivo Black"/>
                <a:cs typeface="Archivo Black"/>
                <a:sym typeface="Archivo Black"/>
              </a:rPr>
              <a:t>App Integration</a:t>
            </a:r>
          </a:p>
        </p:txBody>
      </p:sp>
      <p:sp>
        <p:nvSpPr>
          <p:cNvPr id="10" name="TextBox 10"/>
          <p:cNvSpPr txBox="1"/>
          <p:nvPr/>
        </p:nvSpPr>
        <p:spPr>
          <a:xfrm>
            <a:off x="1206050" y="491408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01</a:t>
            </a:r>
          </a:p>
        </p:txBody>
      </p:sp>
      <p:sp>
        <p:nvSpPr>
          <p:cNvPr id="11" name="TextBox 11"/>
          <p:cNvSpPr txBox="1"/>
          <p:nvPr/>
        </p:nvSpPr>
        <p:spPr>
          <a:xfrm>
            <a:off x="5500793" y="490215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02</a:t>
            </a:r>
          </a:p>
        </p:txBody>
      </p:sp>
      <p:sp>
        <p:nvSpPr>
          <p:cNvPr id="12" name="TextBox 12"/>
          <p:cNvSpPr txBox="1"/>
          <p:nvPr/>
        </p:nvSpPr>
        <p:spPr>
          <a:xfrm>
            <a:off x="1188650" y="5709243"/>
            <a:ext cx="3688210" cy="352234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Begin by setting up a cross-platform Flutter app with essential packages like dio for backend communication, file_picker for capturing multimodal inputs (images, audio), and audioplayers for playing audio responses. Ensure proper platform permissions are configured for accessing the microphone, storage, and camera. The UI should include a chat interface that supports text input, optional media upload, and response playback.</a:t>
            </a:r>
          </a:p>
          <a:p>
            <a:pPr algn="l">
              <a:lnSpc>
                <a:spcPts val="2340"/>
              </a:lnSpc>
            </a:pPr>
            <a:endParaRPr lang="en-US" sz="1500">
              <a:solidFill>
                <a:srgbClr val="FFFFFF"/>
              </a:solidFill>
              <a:latin typeface="Red Hat Display"/>
              <a:ea typeface="Red Hat Display"/>
              <a:cs typeface="Red Hat Display"/>
              <a:sym typeface="Red Hat Display"/>
            </a:endParaRPr>
          </a:p>
        </p:txBody>
      </p:sp>
      <p:sp>
        <p:nvSpPr>
          <p:cNvPr id="13" name="TextBox 13"/>
          <p:cNvSpPr txBox="1"/>
          <p:nvPr/>
        </p:nvSpPr>
        <p:spPr>
          <a:xfrm>
            <a:off x="5500793" y="5743533"/>
            <a:ext cx="3418662" cy="1750695"/>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Develop a Flask (or FastAPI) backend with an endpoint, such as /chat, that receives text and optional media inputs. This endpoint routes the request through a multimodal RAG pipeline to generate a contextual response. </a:t>
            </a:r>
          </a:p>
        </p:txBody>
      </p:sp>
      <p:sp>
        <p:nvSpPr>
          <p:cNvPr id="14" name="TextBox 14"/>
          <p:cNvSpPr txBox="1"/>
          <p:nvPr/>
        </p:nvSpPr>
        <p:spPr>
          <a:xfrm>
            <a:off x="9224255" y="490215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03</a:t>
            </a:r>
          </a:p>
        </p:txBody>
      </p:sp>
      <p:sp>
        <p:nvSpPr>
          <p:cNvPr id="15" name="TextBox 15"/>
          <p:cNvSpPr txBox="1"/>
          <p:nvPr/>
        </p:nvSpPr>
        <p:spPr>
          <a:xfrm>
            <a:off x="9224255" y="5743533"/>
            <a:ext cx="3902165" cy="3227070"/>
          </a:xfrm>
          <a:prstGeom prst="rect">
            <a:avLst/>
          </a:prstGeom>
        </p:spPr>
        <p:txBody>
          <a:bodyPr lIns="0" tIns="0" rIns="0" bIns="0" rtlCol="0" anchor="t">
            <a:spAutoFit/>
          </a:bodyPr>
          <a:lstStyle/>
          <a:p>
            <a:pPr algn="l">
              <a:lnSpc>
                <a:spcPts val="2340"/>
              </a:lnSpc>
            </a:pPr>
            <a:r>
              <a:rPr lang="en-US" sz="1500">
                <a:solidFill>
                  <a:srgbClr val="FFFFFF"/>
                </a:solidFill>
                <a:latin typeface="Red Hat Display"/>
                <a:ea typeface="Red Hat Display"/>
                <a:cs typeface="Red Hat Display"/>
                <a:sym typeface="Red Hat Display"/>
              </a:rPr>
              <a:t>In the Flutter app, create a POST request to the /chat endpoint, attaching user text and any selected image or audio using multipart/form-data. Upon receiving the response, extract the generated text for display in the chat and use AudioPlayer or an equivalent library to stream or play the TTS audio. This creates a seamless feedback loop between the user and the AI agent with both visual and auditory outputs.</a:t>
            </a:r>
          </a:p>
          <a:p>
            <a:pPr algn="l">
              <a:lnSpc>
                <a:spcPts val="2340"/>
              </a:lnSpc>
            </a:pPr>
            <a:endParaRPr lang="en-US" sz="1500">
              <a:solidFill>
                <a:srgbClr val="FFFFFF"/>
              </a:solidFill>
              <a:latin typeface="Red Hat Display"/>
              <a:ea typeface="Red Hat Display"/>
              <a:cs typeface="Red Hat Display"/>
              <a:sym typeface="Red Hat Display"/>
            </a:endParaRPr>
          </a:p>
        </p:txBody>
      </p:sp>
      <p:sp>
        <p:nvSpPr>
          <p:cNvPr id="16" name="TextBox 16"/>
          <p:cNvSpPr txBox="1"/>
          <p:nvPr/>
        </p:nvSpPr>
        <p:spPr>
          <a:xfrm>
            <a:off x="13459047" y="4902158"/>
            <a:ext cx="2197323" cy="679451"/>
          </a:xfrm>
          <a:prstGeom prst="rect">
            <a:avLst/>
          </a:prstGeom>
        </p:spPr>
        <p:txBody>
          <a:bodyPr lIns="0" tIns="0" rIns="0" bIns="0" rtlCol="0" anchor="t">
            <a:spAutoFit/>
          </a:bodyPr>
          <a:lstStyle/>
          <a:p>
            <a:pPr algn="l">
              <a:lnSpc>
                <a:spcPts val="5150"/>
              </a:lnSpc>
            </a:pPr>
            <a:r>
              <a:rPr lang="en-US" sz="5000" b="1">
                <a:solidFill>
                  <a:srgbClr val="FFFFFF"/>
                </a:solidFill>
                <a:latin typeface="Red Hat Display Bold"/>
                <a:ea typeface="Red Hat Display Bold"/>
                <a:cs typeface="Red Hat Display Bold"/>
                <a:sym typeface="Red Hat Display Bold"/>
              </a:rPr>
              <a:t>04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sp>
        <p:nvSpPr>
          <p:cNvPr id="4" name="Freeform 4"/>
          <p:cNvSpPr/>
          <p:nvPr/>
        </p:nvSpPr>
        <p:spPr>
          <a:xfrm>
            <a:off x="16362880" y="8130249"/>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298213" y="2278186"/>
            <a:ext cx="7721165" cy="5171848"/>
            <a:chOff x="0" y="0"/>
            <a:chExt cx="10294887" cy="6895797"/>
          </a:xfrm>
        </p:grpSpPr>
        <p:grpSp>
          <p:nvGrpSpPr>
            <p:cNvPr id="6" name="Group 6"/>
            <p:cNvGrpSpPr/>
            <p:nvPr/>
          </p:nvGrpSpPr>
          <p:grpSpPr>
            <a:xfrm>
              <a:off x="0" y="0"/>
              <a:ext cx="10294887" cy="6895797"/>
              <a:chOff x="0" y="0"/>
              <a:chExt cx="2033558" cy="1362133"/>
            </a:xfrm>
          </p:grpSpPr>
          <p:sp>
            <p:nvSpPr>
              <p:cNvPr id="7" name="Freeform 7"/>
              <p:cNvSpPr/>
              <p:nvPr/>
            </p:nvSpPr>
            <p:spPr>
              <a:xfrm>
                <a:off x="0" y="0"/>
                <a:ext cx="2033558" cy="1362133"/>
              </a:xfrm>
              <a:custGeom>
                <a:avLst/>
                <a:gdLst/>
                <a:ahLst/>
                <a:cxnLst/>
                <a:rect l="l" t="t" r="r" b="b"/>
                <a:pathLst>
                  <a:path w="2033558" h="1362133">
                    <a:moveTo>
                      <a:pt x="20054" y="0"/>
                    </a:moveTo>
                    <a:lnTo>
                      <a:pt x="2013504" y="0"/>
                    </a:lnTo>
                    <a:cubicBezTo>
                      <a:pt x="2018823" y="0"/>
                      <a:pt x="2023923" y="2113"/>
                      <a:pt x="2027684" y="5874"/>
                    </a:cubicBezTo>
                    <a:cubicBezTo>
                      <a:pt x="2031445" y="9634"/>
                      <a:pt x="2033558" y="14735"/>
                      <a:pt x="2033558" y="20054"/>
                    </a:cubicBezTo>
                    <a:lnTo>
                      <a:pt x="2033558" y="1342079"/>
                    </a:lnTo>
                    <a:cubicBezTo>
                      <a:pt x="2033558" y="1353154"/>
                      <a:pt x="2024580" y="1362133"/>
                      <a:pt x="2013504" y="1362133"/>
                    </a:cubicBezTo>
                    <a:lnTo>
                      <a:pt x="20054" y="1362133"/>
                    </a:lnTo>
                    <a:cubicBezTo>
                      <a:pt x="8978" y="1362133"/>
                      <a:pt x="0" y="1353154"/>
                      <a:pt x="0" y="1342079"/>
                    </a:cubicBezTo>
                    <a:lnTo>
                      <a:pt x="0" y="20054"/>
                    </a:lnTo>
                    <a:cubicBezTo>
                      <a:pt x="0" y="8978"/>
                      <a:pt x="8978" y="0"/>
                      <a:pt x="20054" y="0"/>
                    </a:cubicBezTo>
                    <a:close/>
                  </a:path>
                </a:pathLst>
              </a:custGeom>
              <a:solidFill>
                <a:srgbClr val="04001E"/>
              </a:solidFill>
              <a:ln w="38100" cap="sq">
                <a:solidFill>
                  <a:srgbClr val="E5E1DA"/>
                </a:solidFill>
                <a:prstDash val="solid"/>
                <a:miter/>
              </a:ln>
            </p:spPr>
          </p:sp>
          <p:sp>
            <p:nvSpPr>
              <p:cNvPr id="8" name="TextBox 8"/>
              <p:cNvSpPr txBox="1"/>
              <p:nvPr/>
            </p:nvSpPr>
            <p:spPr>
              <a:xfrm>
                <a:off x="0" y="-38100"/>
                <a:ext cx="2033558" cy="140023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732111" y="1087110"/>
              <a:ext cx="8535626" cy="3951871"/>
            </a:xfrm>
            <a:prstGeom prst="rect">
              <a:avLst/>
            </a:prstGeom>
          </p:spPr>
          <p:txBody>
            <a:bodyPr lIns="0" tIns="0" rIns="0" bIns="0" rtlCol="0" anchor="t">
              <a:spAutoFit/>
            </a:bodyPr>
            <a:lstStyle/>
            <a:p>
              <a:pPr algn="just">
                <a:lnSpc>
                  <a:spcPts val="7566"/>
                </a:lnSpc>
              </a:pPr>
              <a:r>
                <a:rPr lang="en-US" sz="7800">
                  <a:solidFill>
                    <a:srgbClr val="F4F4ED"/>
                  </a:solidFill>
                  <a:latin typeface="Archivo Black"/>
                  <a:ea typeface="Archivo Black"/>
                  <a:cs typeface="Archivo Black"/>
                  <a:sym typeface="Archivo Black"/>
                </a:rPr>
                <a:t>Robustness</a:t>
              </a:r>
            </a:p>
            <a:p>
              <a:pPr algn="just">
                <a:lnSpc>
                  <a:spcPts val="7566"/>
                </a:lnSpc>
              </a:pPr>
              <a:r>
                <a:rPr lang="en-US" sz="7800">
                  <a:solidFill>
                    <a:srgbClr val="F4F4ED"/>
                  </a:solidFill>
                  <a:latin typeface="Archivo Black"/>
                  <a:ea typeface="Archivo Black"/>
                  <a:cs typeface="Archivo Black"/>
                  <a:sym typeface="Archivo Black"/>
                </a:rPr>
                <a:t>and</a:t>
              </a:r>
            </a:p>
            <a:p>
              <a:pPr algn="just">
                <a:lnSpc>
                  <a:spcPts val="7566"/>
                </a:lnSpc>
              </a:pPr>
              <a:r>
                <a:rPr lang="en-US" sz="7800">
                  <a:solidFill>
                    <a:srgbClr val="F4F4ED"/>
                  </a:solidFill>
                  <a:latin typeface="Archivo Black"/>
                  <a:ea typeface="Archivo Black"/>
                  <a:cs typeface="Archivo Black"/>
                  <a:sym typeface="Archivo Black"/>
                </a:rPr>
                <a:t>Scalability</a:t>
              </a:r>
            </a:p>
          </p:txBody>
        </p:sp>
        <p:sp>
          <p:nvSpPr>
            <p:cNvPr id="10" name="TextBox 10"/>
            <p:cNvSpPr txBox="1"/>
            <p:nvPr/>
          </p:nvSpPr>
          <p:spPr>
            <a:xfrm>
              <a:off x="827462" y="5525890"/>
              <a:ext cx="7715703" cy="445135"/>
            </a:xfrm>
            <a:prstGeom prst="rect">
              <a:avLst/>
            </a:prstGeom>
          </p:spPr>
          <p:txBody>
            <a:bodyPr lIns="0" tIns="0" rIns="0" bIns="0" rtlCol="0" anchor="t">
              <a:spAutoFit/>
            </a:bodyPr>
            <a:lstStyle/>
            <a:p>
              <a:pPr marL="0" lvl="0" indent="0" algn="l">
                <a:lnSpc>
                  <a:spcPts val="2834"/>
                </a:lnSpc>
                <a:spcBef>
                  <a:spcPct val="0"/>
                </a:spcBef>
              </a:pPr>
              <a:endParaRPr/>
            </a:p>
          </p:txBody>
        </p:sp>
      </p:grpSp>
      <p:sp>
        <p:nvSpPr>
          <p:cNvPr id="11" name="AutoShape 11"/>
          <p:cNvSpPr/>
          <p:nvPr/>
        </p:nvSpPr>
        <p:spPr>
          <a:xfrm flipV="1">
            <a:off x="8482550" y="-2607264"/>
            <a:ext cx="0" cy="1577306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8285183" y="7065390"/>
            <a:ext cx="394734" cy="718264"/>
            <a:chOff x="0" y="0"/>
            <a:chExt cx="812800" cy="1478982"/>
          </a:xfrm>
        </p:grpSpPr>
        <p:sp>
          <p:nvSpPr>
            <p:cNvPr id="13" name="Freeform 13"/>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4" name="TextBox 14"/>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rot="-5400000">
            <a:off x="8285183" y="4279917"/>
            <a:ext cx="394734" cy="718264"/>
            <a:chOff x="0" y="0"/>
            <a:chExt cx="812800" cy="1478982"/>
          </a:xfrm>
        </p:grpSpPr>
        <p:sp>
          <p:nvSpPr>
            <p:cNvPr id="16" name="Freeform 16"/>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17" name="TextBox 17"/>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8" name="Group 18"/>
          <p:cNvGrpSpPr/>
          <p:nvPr/>
        </p:nvGrpSpPr>
        <p:grpSpPr>
          <a:xfrm rot="-5400000">
            <a:off x="8285183" y="1379587"/>
            <a:ext cx="394734" cy="718264"/>
            <a:chOff x="0" y="0"/>
            <a:chExt cx="812800" cy="1478982"/>
          </a:xfrm>
        </p:grpSpPr>
        <p:sp>
          <p:nvSpPr>
            <p:cNvPr id="19" name="Freeform 19"/>
            <p:cNvSpPr/>
            <p:nvPr/>
          </p:nvSpPr>
          <p:spPr>
            <a:xfrm>
              <a:off x="0" y="0"/>
              <a:ext cx="812800" cy="1478982"/>
            </a:xfrm>
            <a:custGeom>
              <a:avLst/>
              <a:gdLst/>
              <a:ahLst/>
              <a:cxnLst/>
              <a:rect l="l" t="t" r="r" b="b"/>
              <a:pathLst>
                <a:path w="812800" h="1478982">
                  <a:moveTo>
                    <a:pt x="406400" y="0"/>
                  </a:moveTo>
                  <a:lnTo>
                    <a:pt x="535715" y="504187"/>
                  </a:lnTo>
                  <a:lnTo>
                    <a:pt x="812800" y="739491"/>
                  </a:lnTo>
                  <a:lnTo>
                    <a:pt x="535715" y="974794"/>
                  </a:lnTo>
                  <a:lnTo>
                    <a:pt x="406400" y="1478982"/>
                  </a:lnTo>
                  <a:lnTo>
                    <a:pt x="277085" y="974794"/>
                  </a:lnTo>
                  <a:lnTo>
                    <a:pt x="0" y="739491"/>
                  </a:lnTo>
                  <a:lnTo>
                    <a:pt x="277085" y="504187"/>
                  </a:lnTo>
                  <a:lnTo>
                    <a:pt x="406400" y="0"/>
                  </a:lnTo>
                  <a:close/>
                </a:path>
              </a:pathLst>
            </a:custGeom>
            <a:solidFill>
              <a:srgbClr val="FFFFFF"/>
            </a:solidFill>
            <a:ln cap="sq">
              <a:noFill/>
              <a:prstDash val="solid"/>
              <a:miter/>
            </a:ln>
          </p:spPr>
        </p:sp>
        <p:sp>
          <p:nvSpPr>
            <p:cNvPr id="20" name="TextBox 20"/>
            <p:cNvSpPr txBox="1"/>
            <p:nvPr/>
          </p:nvSpPr>
          <p:spPr>
            <a:xfrm>
              <a:off x="190500" y="384736"/>
              <a:ext cx="431800" cy="747609"/>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21" name="Group 21"/>
          <p:cNvGrpSpPr/>
          <p:nvPr/>
        </p:nvGrpSpPr>
        <p:grpSpPr>
          <a:xfrm>
            <a:off x="9321397" y="1095257"/>
            <a:ext cx="8216916" cy="2561528"/>
            <a:chOff x="0" y="0"/>
            <a:chExt cx="2750680" cy="857492"/>
          </a:xfrm>
        </p:grpSpPr>
        <p:sp>
          <p:nvSpPr>
            <p:cNvPr id="22" name="Freeform 22"/>
            <p:cNvSpPr/>
            <p:nvPr/>
          </p:nvSpPr>
          <p:spPr>
            <a:xfrm>
              <a:off x="0" y="0"/>
              <a:ext cx="2750680" cy="857492"/>
            </a:xfrm>
            <a:custGeom>
              <a:avLst/>
              <a:gdLst/>
              <a:ahLst/>
              <a:cxnLst/>
              <a:rect l="l" t="t" r="r" b="b"/>
              <a:pathLst>
                <a:path w="2750680" h="857492">
                  <a:moveTo>
                    <a:pt x="18844" y="0"/>
                  </a:moveTo>
                  <a:lnTo>
                    <a:pt x="2731836" y="0"/>
                  </a:lnTo>
                  <a:cubicBezTo>
                    <a:pt x="2736834" y="0"/>
                    <a:pt x="2741627" y="1985"/>
                    <a:pt x="2745161" y="5519"/>
                  </a:cubicBezTo>
                  <a:cubicBezTo>
                    <a:pt x="2748695" y="9053"/>
                    <a:pt x="2750680" y="13846"/>
                    <a:pt x="2750680" y="18844"/>
                  </a:cubicBezTo>
                  <a:lnTo>
                    <a:pt x="2750680" y="838649"/>
                  </a:lnTo>
                  <a:cubicBezTo>
                    <a:pt x="2750680" y="843646"/>
                    <a:pt x="2748695" y="848439"/>
                    <a:pt x="2745161" y="851973"/>
                  </a:cubicBezTo>
                  <a:cubicBezTo>
                    <a:pt x="2741627" y="855507"/>
                    <a:pt x="2736834" y="857492"/>
                    <a:pt x="2731836" y="857492"/>
                  </a:cubicBezTo>
                  <a:lnTo>
                    <a:pt x="18844" y="857492"/>
                  </a:lnTo>
                  <a:cubicBezTo>
                    <a:pt x="13846" y="857492"/>
                    <a:pt x="9053" y="855507"/>
                    <a:pt x="5519" y="851973"/>
                  </a:cubicBezTo>
                  <a:cubicBezTo>
                    <a:pt x="1985" y="848439"/>
                    <a:pt x="0" y="843646"/>
                    <a:pt x="0" y="838649"/>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3" name="TextBox 23"/>
            <p:cNvSpPr txBox="1"/>
            <p:nvPr/>
          </p:nvSpPr>
          <p:spPr>
            <a:xfrm>
              <a:off x="0" y="-38100"/>
              <a:ext cx="2750680" cy="8955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4" name="Group 24"/>
          <p:cNvGrpSpPr/>
          <p:nvPr/>
        </p:nvGrpSpPr>
        <p:grpSpPr>
          <a:xfrm>
            <a:off x="9321397" y="3862348"/>
            <a:ext cx="8216916" cy="2091693"/>
            <a:chOff x="0" y="0"/>
            <a:chExt cx="2750680" cy="700211"/>
          </a:xfrm>
        </p:grpSpPr>
        <p:sp>
          <p:nvSpPr>
            <p:cNvPr id="25" name="Freeform 25"/>
            <p:cNvSpPr/>
            <p:nvPr/>
          </p:nvSpPr>
          <p:spPr>
            <a:xfrm>
              <a:off x="0" y="0"/>
              <a:ext cx="2750680" cy="700211"/>
            </a:xfrm>
            <a:custGeom>
              <a:avLst/>
              <a:gdLst/>
              <a:ahLst/>
              <a:cxnLst/>
              <a:rect l="l" t="t" r="r" b="b"/>
              <a:pathLst>
                <a:path w="2750680" h="700211">
                  <a:moveTo>
                    <a:pt x="18844" y="0"/>
                  </a:moveTo>
                  <a:lnTo>
                    <a:pt x="2731836" y="0"/>
                  </a:lnTo>
                  <a:cubicBezTo>
                    <a:pt x="2736834" y="0"/>
                    <a:pt x="2741627" y="1985"/>
                    <a:pt x="2745161" y="5519"/>
                  </a:cubicBezTo>
                  <a:cubicBezTo>
                    <a:pt x="2748695" y="9053"/>
                    <a:pt x="2750680" y="13846"/>
                    <a:pt x="2750680" y="18844"/>
                  </a:cubicBezTo>
                  <a:lnTo>
                    <a:pt x="2750680" y="681367"/>
                  </a:lnTo>
                  <a:cubicBezTo>
                    <a:pt x="2750680" y="686365"/>
                    <a:pt x="2748695" y="691158"/>
                    <a:pt x="2745161" y="694692"/>
                  </a:cubicBezTo>
                  <a:cubicBezTo>
                    <a:pt x="2741627" y="698226"/>
                    <a:pt x="2736834" y="700211"/>
                    <a:pt x="2731836" y="700211"/>
                  </a:cubicBezTo>
                  <a:lnTo>
                    <a:pt x="18844" y="700211"/>
                  </a:lnTo>
                  <a:cubicBezTo>
                    <a:pt x="13846" y="700211"/>
                    <a:pt x="9053" y="698226"/>
                    <a:pt x="5519" y="694692"/>
                  </a:cubicBezTo>
                  <a:cubicBezTo>
                    <a:pt x="1985" y="691158"/>
                    <a:pt x="0" y="686365"/>
                    <a:pt x="0" y="681367"/>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6" name="TextBox 26"/>
            <p:cNvSpPr txBox="1"/>
            <p:nvPr/>
          </p:nvSpPr>
          <p:spPr>
            <a:xfrm>
              <a:off x="0" y="-38100"/>
              <a:ext cx="2750680" cy="73831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a:off x="9321397" y="6296941"/>
            <a:ext cx="8216916" cy="2898013"/>
            <a:chOff x="0" y="0"/>
            <a:chExt cx="2750680" cy="970134"/>
          </a:xfrm>
        </p:grpSpPr>
        <p:sp>
          <p:nvSpPr>
            <p:cNvPr id="28" name="Freeform 28"/>
            <p:cNvSpPr/>
            <p:nvPr/>
          </p:nvSpPr>
          <p:spPr>
            <a:xfrm>
              <a:off x="0" y="0"/>
              <a:ext cx="2750680" cy="970134"/>
            </a:xfrm>
            <a:custGeom>
              <a:avLst/>
              <a:gdLst/>
              <a:ahLst/>
              <a:cxnLst/>
              <a:rect l="l" t="t" r="r" b="b"/>
              <a:pathLst>
                <a:path w="2750680" h="970134">
                  <a:moveTo>
                    <a:pt x="18844" y="0"/>
                  </a:moveTo>
                  <a:lnTo>
                    <a:pt x="2731836" y="0"/>
                  </a:lnTo>
                  <a:cubicBezTo>
                    <a:pt x="2736834" y="0"/>
                    <a:pt x="2741627" y="1985"/>
                    <a:pt x="2745161" y="5519"/>
                  </a:cubicBezTo>
                  <a:cubicBezTo>
                    <a:pt x="2748695" y="9053"/>
                    <a:pt x="2750680" y="13846"/>
                    <a:pt x="2750680" y="18844"/>
                  </a:cubicBezTo>
                  <a:lnTo>
                    <a:pt x="2750680" y="951290"/>
                  </a:lnTo>
                  <a:cubicBezTo>
                    <a:pt x="2750680" y="956287"/>
                    <a:pt x="2748695" y="961080"/>
                    <a:pt x="2745161" y="964614"/>
                  </a:cubicBezTo>
                  <a:cubicBezTo>
                    <a:pt x="2741627" y="968148"/>
                    <a:pt x="2736834" y="970134"/>
                    <a:pt x="2731836" y="970134"/>
                  </a:cubicBezTo>
                  <a:lnTo>
                    <a:pt x="18844" y="970134"/>
                  </a:lnTo>
                  <a:cubicBezTo>
                    <a:pt x="13846" y="970134"/>
                    <a:pt x="9053" y="968148"/>
                    <a:pt x="5519" y="964614"/>
                  </a:cubicBezTo>
                  <a:cubicBezTo>
                    <a:pt x="1985" y="961080"/>
                    <a:pt x="0" y="956287"/>
                    <a:pt x="0" y="951290"/>
                  </a:cubicBezTo>
                  <a:lnTo>
                    <a:pt x="0" y="18844"/>
                  </a:lnTo>
                  <a:cubicBezTo>
                    <a:pt x="0" y="13846"/>
                    <a:pt x="1985" y="9053"/>
                    <a:pt x="5519" y="5519"/>
                  </a:cubicBezTo>
                  <a:cubicBezTo>
                    <a:pt x="9053" y="1985"/>
                    <a:pt x="13846" y="0"/>
                    <a:pt x="18844" y="0"/>
                  </a:cubicBezTo>
                  <a:close/>
                </a:path>
              </a:pathLst>
            </a:custGeom>
            <a:solidFill>
              <a:srgbClr val="04001E"/>
            </a:solidFill>
            <a:ln w="38100" cap="sq">
              <a:solidFill>
                <a:srgbClr val="E5E1DA"/>
              </a:solidFill>
              <a:prstDash val="solid"/>
              <a:miter/>
            </a:ln>
          </p:spPr>
        </p:sp>
        <p:sp>
          <p:nvSpPr>
            <p:cNvPr id="29" name="TextBox 29"/>
            <p:cNvSpPr txBox="1"/>
            <p:nvPr/>
          </p:nvSpPr>
          <p:spPr>
            <a:xfrm>
              <a:off x="0" y="-38100"/>
              <a:ext cx="2750680" cy="100823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0" name="TextBox 30"/>
          <p:cNvSpPr txBox="1"/>
          <p:nvPr/>
        </p:nvSpPr>
        <p:spPr>
          <a:xfrm>
            <a:off x="9568708" y="6443916"/>
            <a:ext cx="7722293" cy="2571211"/>
          </a:xfrm>
          <a:prstGeom prst="rect">
            <a:avLst/>
          </a:prstGeom>
        </p:spPr>
        <p:txBody>
          <a:bodyPr lIns="0" tIns="0" rIns="0" bIns="0" rtlCol="0" anchor="t">
            <a:spAutoFit/>
          </a:bodyPr>
          <a:lstStyle/>
          <a:p>
            <a:pPr marL="0" lvl="0" indent="0" algn="just">
              <a:lnSpc>
                <a:spcPts val="3413"/>
              </a:lnSpc>
              <a:spcBef>
                <a:spcPct val="0"/>
              </a:spcBef>
            </a:pPr>
            <a:r>
              <a:rPr lang="en-US" sz="2528" spc="40">
                <a:solidFill>
                  <a:srgbClr val="FFFFFF"/>
                </a:solidFill>
                <a:latin typeface="Red Hat Display"/>
                <a:ea typeface="Red Hat Display"/>
                <a:cs typeface="Red Hat Display"/>
                <a:sym typeface="Red Hat Display"/>
              </a:rPr>
              <a:t>To </a:t>
            </a:r>
            <a:r>
              <a:rPr lang="en-US" sz="2528" u="none" spc="40">
                <a:solidFill>
                  <a:srgbClr val="FFFFFF"/>
                </a:solidFill>
                <a:latin typeface="Red Hat Display"/>
                <a:ea typeface="Red Hat Display"/>
                <a:cs typeface="Red Hat Display"/>
                <a:sym typeface="Red Hat Display"/>
              </a:rPr>
              <a:t>ensure scalability, we used database in our n8n architecture for efficient storage of session data, logs, enabling stateful recovery and high reliability under load. The system is containerized using Docker, allowing  scaling and consistent deployments.</a:t>
            </a:r>
          </a:p>
        </p:txBody>
      </p:sp>
      <p:sp>
        <p:nvSpPr>
          <p:cNvPr id="31" name="TextBox 31"/>
          <p:cNvSpPr txBox="1"/>
          <p:nvPr/>
        </p:nvSpPr>
        <p:spPr>
          <a:xfrm>
            <a:off x="9568708" y="4110952"/>
            <a:ext cx="7722293" cy="1477741"/>
          </a:xfrm>
          <a:prstGeom prst="rect">
            <a:avLst/>
          </a:prstGeom>
        </p:spPr>
        <p:txBody>
          <a:bodyPr lIns="0" tIns="0" rIns="0" bIns="0" rtlCol="0" anchor="t">
            <a:spAutoFit/>
          </a:bodyPr>
          <a:lstStyle/>
          <a:p>
            <a:pPr marL="0" lvl="0" indent="0" algn="just">
              <a:lnSpc>
                <a:spcPts val="3953"/>
              </a:lnSpc>
              <a:spcBef>
                <a:spcPct val="0"/>
              </a:spcBef>
            </a:pPr>
            <a:r>
              <a:rPr lang="en-US" sz="2928" spc="46">
                <a:solidFill>
                  <a:srgbClr val="FFFFFF"/>
                </a:solidFill>
                <a:latin typeface="Red Hat Display"/>
                <a:ea typeface="Red Hat Display"/>
                <a:cs typeface="Red Hat Display"/>
                <a:sym typeface="Red Hat Display"/>
              </a:rPr>
              <a:t>Since all tools and features added work parallely with the input processing, it is easy to add more tools or cases to the system.</a:t>
            </a:r>
          </a:p>
        </p:txBody>
      </p:sp>
      <p:sp>
        <p:nvSpPr>
          <p:cNvPr id="32" name="TextBox 32"/>
          <p:cNvSpPr txBox="1"/>
          <p:nvPr/>
        </p:nvSpPr>
        <p:spPr>
          <a:xfrm>
            <a:off x="9568708" y="1356435"/>
            <a:ext cx="7722293" cy="2030191"/>
          </a:xfrm>
          <a:prstGeom prst="rect">
            <a:avLst/>
          </a:prstGeom>
        </p:spPr>
        <p:txBody>
          <a:bodyPr lIns="0" tIns="0" rIns="0" bIns="0" rtlCol="0" anchor="t">
            <a:spAutoFit/>
          </a:bodyPr>
          <a:lstStyle/>
          <a:p>
            <a:pPr marL="0" lvl="0" indent="0" algn="just">
              <a:lnSpc>
                <a:spcPts val="3278"/>
              </a:lnSpc>
              <a:spcBef>
                <a:spcPct val="0"/>
              </a:spcBef>
            </a:pPr>
            <a:r>
              <a:rPr lang="en-US" sz="2428" spc="38">
                <a:solidFill>
                  <a:srgbClr val="FFFFFF"/>
                </a:solidFill>
                <a:latin typeface="Red Hat Display"/>
                <a:ea typeface="Red Hat Display"/>
                <a:cs typeface="Red Hat Display"/>
                <a:sym typeface="Red Hat Display"/>
              </a:rPr>
              <a:t>The system ensures stability via input validation, multimodal normalization, and self-correcting logic. It refines vague queries, verifies document relevance, and rejects hallucinated answers. Robust error handling and state tracking allow graceful recovery.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691420" y="273582"/>
            <a:ext cx="12221289" cy="8822969"/>
          </a:xfrm>
          <a:custGeom>
            <a:avLst/>
            <a:gdLst/>
            <a:ahLst/>
            <a:cxnLst/>
            <a:rect l="l" t="t" r="r" b="b"/>
            <a:pathLst>
              <a:path w="12221289" h="8822969">
                <a:moveTo>
                  <a:pt x="12221290" y="0"/>
                </a:moveTo>
                <a:lnTo>
                  <a:pt x="0" y="0"/>
                </a:lnTo>
                <a:lnTo>
                  <a:pt x="0" y="8822969"/>
                </a:lnTo>
                <a:lnTo>
                  <a:pt x="12221290" y="8822969"/>
                </a:lnTo>
                <a:lnTo>
                  <a:pt x="12221290" y="0"/>
                </a:lnTo>
                <a:close/>
              </a:path>
            </a:pathLst>
          </a:custGeom>
          <a:blipFill>
            <a:blip r:embed="rId3"/>
            <a:stretch>
              <a:fillRect/>
            </a:stretch>
          </a:blipFill>
        </p:spPr>
      </p:sp>
      <p:grpSp>
        <p:nvGrpSpPr>
          <p:cNvPr id="4" name="Group 4"/>
          <p:cNvGrpSpPr/>
          <p:nvPr/>
        </p:nvGrpSpPr>
        <p:grpSpPr>
          <a:xfrm>
            <a:off x="1638562" y="1966786"/>
            <a:ext cx="6796031" cy="3559266"/>
            <a:chOff x="0" y="0"/>
            <a:chExt cx="1414679" cy="740906"/>
          </a:xfrm>
        </p:grpSpPr>
        <p:sp>
          <p:nvSpPr>
            <p:cNvPr id="5" name="Freeform 5"/>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638562" y="6075616"/>
            <a:ext cx="6796031" cy="3559266"/>
            <a:chOff x="0" y="0"/>
            <a:chExt cx="1414679" cy="740906"/>
          </a:xfrm>
        </p:grpSpPr>
        <p:sp>
          <p:nvSpPr>
            <p:cNvPr id="8" name="Freeform 8"/>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9" name="TextBox 9"/>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9278702" y="1966786"/>
            <a:ext cx="6796031" cy="3559266"/>
            <a:chOff x="0" y="0"/>
            <a:chExt cx="1414679" cy="740906"/>
          </a:xfrm>
        </p:grpSpPr>
        <p:sp>
          <p:nvSpPr>
            <p:cNvPr id="11" name="Freeform 11"/>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2" name="TextBox 12"/>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9278702" y="6075616"/>
            <a:ext cx="6796031" cy="3559266"/>
            <a:chOff x="0" y="0"/>
            <a:chExt cx="1414679" cy="740906"/>
          </a:xfrm>
        </p:grpSpPr>
        <p:sp>
          <p:nvSpPr>
            <p:cNvPr id="14" name="Freeform 14"/>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5" name="TextBox 15"/>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1638562" y="1966786"/>
            <a:ext cx="6796031" cy="668736"/>
            <a:chOff x="0" y="0"/>
            <a:chExt cx="1414679" cy="139206"/>
          </a:xfrm>
        </p:grpSpPr>
        <p:sp>
          <p:nvSpPr>
            <p:cNvPr id="17" name="Freeform 17"/>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18" name="TextBox 18"/>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Storing conversations as Graph</a:t>
              </a:r>
            </a:p>
          </p:txBody>
        </p:sp>
      </p:grpSp>
      <p:grpSp>
        <p:nvGrpSpPr>
          <p:cNvPr id="19" name="Group 19"/>
          <p:cNvGrpSpPr/>
          <p:nvPr/>
        </p:nvGrpSpPr>
        <p:grpSpPr>
          <a:xfrm>
            <a:off x="1638562" y="6075616"/>
            <a:ext cx="6796031" cy="668736"/>
            <a:chOff x="0" y="0"/>
            <a:chExt cx="1414679" cy="139206"/>
          </a:xfrm>
        </p:grpSpPr>
        <p:sp>
          <p:nvSpPr>
            <p:cNvPr id="20" name="Freeform 20"/>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1" name="TextBox 21"/>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Code Snippets/Other Markdown Features</a:t>
              </a:r>
            </a:p>
          </p:txBody>
        </p:sp>
      </p:grpSp>
      <p:grpSp>
        <p:nvGrpSpPr>
          <p:cNvPr id="22" name="Group 22"/>
          <p:cNvGrpSpPr/>
          <p:nvPr/>
        </p:nvGrpSpPr>
        <p:grpSpPr>
          <a:xfrm>
            <a:off x="9278702" y="1966786"/>
            <a:ext cx="6796031" cy="668736"/>
            <a:chOff x="0" y="0"/>
            <a:chExt cx="1414679" cy="139206"/>
          </a:xfrm>
        </p:grpSpPr>
        <p:sp>
          <p:nvSpPr>
            <p:cNvPr id="23" name="Freeform 23"/>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4" name="TextBox 24"/>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Multimodal Outputs</a:t>
              </a:r>
            </a:p>
          </p:txBody>
        </p:sp>
      </p:grpSp>
      <p:grpSp>
        <p:nvGrpSpPr>
          <p:cNvPr id="25" name="Group 25"/>
          <p:cNvGrpSpPr/>
          <p:nvPr/>
        </p:nvGrpSpPr>
        <p:grpSpPr>
          <a:xfrm>
            <a:off x="9278702" y="6075616"/>
            <a:ext cx="6796031" cy="668736"/>
            <a:chOff x="0" y="0"/>
            <a:chExt cx="1414679" cy="139206"/>
          </a:xfrm>
        </p:grpSpPr>
        <p:sp>
          <p:nvSpPr>
            <p:cNvPr id="26" name="Freeform 26"/>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7" name="TextBox 27"/>
            <p:cNvSpPr txBox="1"/>
            <p:nvPr/>
          </p:nvSpPr>
          <p:spPr>
            <a:xfrm>
              <a:off x="0" y="-38100"/>
              <a:ext cx="1414679" cy="177306"/>
            </a:xfrm>
            <a:prstGeom prst="rect">
              <a:avLst/>
            </a:prstGeom>
          </p:spPr>
          <p:txBody>
            <a:bodyPr lIns="50800" tIns="50800" rIns="50800" bIns="50800" rtlCol="0" anchor="ctr"/>
            <a:lstStyle/>
            <a:p>
              <a:pPr algn="ctr">
                <a:lnSpc>
                  <a:spcPts val="2659"/>
                </a:lnSpc>
              </a:pPr>
              <a:r>
                <a:rPr lang="en-US" sz="1899">
                  <a:solidFill>
                    <a:srgbClr val="000000"/>
                  </a:solidFill>
                  <a:latin typeface="Open Sans Light"/>
                  <a:ea typeface="Open Sans Light"/>
                  <a:cs typeface="Open Sans Light"/>
                  <a:sym typeface="Open Sans Light"/>
                </a:rPr>
                <a:t>Extension for Usage of Various Tools</a:t>
              </a:r>
            </a:p>
          </p:txBody>
        </p:sp>
      </p:grpSp>
      <p:sp>
        <p:nvSpPr>
          <p:cNvPr id="28" name="TextBox 28"/>
          <p:cNvSpPr txBox="1"/>
          <p:nvPr/>
        </p:nvSpPr>
        <p:spPr>
          <a:xfrm>
            <a:off x="2066191" y="2987947"/>
            <a:ext cx="5581827" cy="15887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In</a:t>
            </a:r>
            <a:r>
              <a:rPr lang="en-US" sz="1600" u="none" spc="96">
                <a:solidFill>
                  <a:srgbClr val="FFFFFF"/>
                </a:solidFill>
                <a:latin typeface="Red Hat Display"/>
                <a:ea typeface="Red Hat Display"/>
                <a:cs typeface="Red Hat Display"/>
                <a:sym typeface="Red Hat Display"/>
              </a:rPr>
              <a:t> agentic AI systems, storing conversations as a graph allows for dynamic and contextual memory representation where each message, action, or decision is modeled as a node, and relationships such as cause-effect, follow-up, or correction are represented as edges. </a:t>
            </a:r>
          </a:p>
        </p:txBody>
      </p:sp>
      <p:sp>
        <p:nvSpPr>
          <p:cNvPr id="29" name="TextBox 29"/>
          <p:cNvSpPr txBox="1"/>
          <p:nvPr/>
        </p:nvSpPr>
        <p:spPr>
          <a:xfrm>
            <a:off x="9778208" y="3096297"/>
            <a:ext cx="5581827" cy="13220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By integrating dive</a:t>
            </a:r>
            <a:r>
              <a:rPr lang="en-US" sz="1600" u="none" spc="96">
                <a:solidFill>
                  <a:srgbClr val="FFFFFF"/>
                </a:solidFill>
                <a:latin typeface="Red Hat Display"/>
                <a:ea typeface="Red Hat Display"/>
                <a:cs typeface="Red Hat Display"/>
                <a:sym typeface="Red Hat Display"/>
              </a:rPr>
              <a:t>rse output forms, the agent becomes more expressive and aligned with human communication styles. For instance, it can explain a concept visually, respond with voice for accessibility, or trigger interactive components like maps or charts. </a:t>
            </a:r>
          </a:p>
        </p:txBody>
      </p:sp>
      <p:sp>
        <p:nvSpPr>
          <p:cNvPr id="30" name="TextBox 30"/>
          <p:cNvSpPr txBox="1"/>
          <p:nvPr/>
        </p:nvSpPr>
        <p:spPr>
          <a:xfrm>
            <a:off x="9904854" y="7011053"/>
            <a:ext cx="5581827" cy="23888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In ag</a:t>
            </a:r>
            <a:r>
              <a:rPr lang="en-US" sz="1600" u="none" spc="96">
                <a:solidFill>
                  <a:srgbClr val="FFFFFF"/>
                </a:solidFill>
                <a:latin typeface="Red Hat Display"/>
                <a:ea typeface="Red Hat Display"/>
                <a:cs typeface="Red Hat Display"/>
                <a:sym typeface="Red Hat Display"/>
              </a:rPr>
              <a:t>entic AI, integrating automation tools like n8n allows the system to trigger real-world workflows based on conversational context. This creates a seamless bridge between natural language understanding and action execution, enabling the AI to not only reason or respond but also act through predefined automation pipelines—making interactions more powerful, goal-oriented, and operationally useful.</a:t>
            </a:r>
          </a:p>
          <a:p>
            <a:pPr marL="0" lvl="0" indent="0" algn="l">
              <a:lnSpc>
                <a:spcPts val="2160"/>
              </a:lnSpc>
              <a:spcBef>
                <a:spcPct val="0"/>
              </a:spcBef>
            </a:pPr>
            <a:endParaRPr lang="en-US" sz="1600" u="none" spc="96">
              <a:solidFill>
                <a:srgbClr val="FFFFFF"/>
              </a:solidFill>
              <a:latin typeface="Red Hat Display"/>
              <a:ea typeface="Red Hat Display"/>
              <a:cs typeface="Red Hat Display"/>
              <a:sym typeface="Red Hat Display"/>
            </a:endParaRPr>
          </a:p>
        </p:txBody>
      </p:sp>
      <p:sp>
        <p:nvSpPr>
          <p:cNvPr id="31" name="TextBox 31"/>
          <p:cNvSpPr txBox="1"/>
          <p:nvPr/>
        </p:nvSpPr>
        <p:spPr>
          <a:xfrm>
            <a:off x="2124459" y="7039628"/>
            <a:ext cx="5824238" cy="2122170"/>
          </a:xfrm>
          <a:prstGeom prst="rect">
            <a:avLst/>
          </a:prstGeom>
        </p:spPr>
        <p:txBody>
          <a:bodyPr lIns="0" tIns="0" rIns="0" bIns="0" rtlCol="0" anchor="t">
            <a:spAutoFit/>
          </a:bodyPr>
          <a:lstStyle/>
          <a:p>
            <a:pPr marL="0" lvl="0" indent="0" algn="l">
              <a:lnSpc>
                <a:spcPts val="2160"/>
              </a:lnSpc>
              <a:spcBef>
                <a:spcPct val="0"/>
              </a:spcBef>
            </a:pPr>
            <a:r>
              <a:rPr lang="en-US" sz="1600" spc="96">
                <a:solidFill>
                  <a:srgbClr val="FFFFFF"/>
                </a:solidFill>
                <a:latin typeface="Red Hat Display"/>
                <a:ea typeface="Red Hat Display"/>
                <a:cs typeface="Red Hat Display"/>
                <a:sym typeface="Red Hat Display"/>
              </a:rPr>
              <a:t>C</a:t>
            </a:r>
            <a:r>
              <a:rPr lang="en-US" sz="1600" u="none" spc="96">
                <a:solidFill>
                  <a:srgbClr val="FFFFFF"/>
                </a:solidFill>
                <a:latin typeface="Red Hat Display"/>
                <a:ea typeface="Red Hat Display"/>
                <a:cs typeface="Red Hat Display"/>
                <a:sym typeface="Red Hat Display"/>
              </a:rPr>
              <a:t>ode snippets serve as dynamic and executable responses that empower the system to solve technical problems, generate tools, or automate tasks on the fly. When a user asks a programming-related question or needs a workflow automation, the AI can generate relevant code as part of its output. These snippets can include Python functions, SQL queries, or shell scripts, tailored to the user’s environment and intent.</a:t>
            </a:r>
          </a:p>
        </p:txBody>
      </p:sp>
      <p:sp>
        <p:nvSpPr>
          <p:cNvPr id="32" name="Freeform 32"/>
          <p:cNvSpPr/>
          <p:nvPr/>
        </p:nvSpPr>
        <p:spPr>
          <a:xfrm>
            <a:off x="16337164" y="865887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33" name="Group 33"/>
          <p:cNvGrpSpPr/>
          <p:nvPr/>
        </p:nvGrpSpPr>
        <p:grpSpPr>
          <a:xfrm>
            <a:off x="822607" y="262612"/>
            <a:ext cx="16436693" cy="1332700"/>
            <a:chOff x="0" y="0"/>
            <a:chExt cx="4329006" cy="350999"/>
          </a:xfrm>
        </p:grpSpPr>
        <p:sp>
          <p:nvSpPr>
            <p:cNvPr id="34" name="Freeform 34"/>
            <p:cNvSpPr/>
            <p:nvPr/>
          </p:nvSpPr>
          <p:spPr>
            <a:xfrm>
              <a:off x="0" y="0"/>
              <a:ext cx="4329006" cy="350999"/>
            </a:xfrm>
            <a:custGeom>
              <a:avLst/>
              <a:gdLst/>
              <a:ahLst/>
              <a:cxnLst/>
              <a:rect l="l" t="t" r="r" b="b"/>
              <a:pathLst>
                <a:path w="4329006" h="350999">
                  <a:moveTo>
                    <a:pt x="9420" y="0"/>
                  </a:moveTo>
                  <a:lnTo>
                    <a:pt x="4319585" y="0"/>
                  </a:lnTo>
                  <a:cubicBezTo>
                    <a:pt x="4324788" y="0"/>
                    <a:pt x="4329006" y="4218"/>
                    <a:pt x="4329006" y="9420"/>
                  </a:cubicBezTo>
                  <a:lnTo>
                    <a:pt x="4329006" y="341579"/>
                  </a:lnTo>
                  <a:cubicBezTo>
                    <a:pt x="4329006" y="346781"/>
                    <a:pt x="4324788" y="350999"/>
                    <a:pt x="4319585" y="350999"/>
                  </a:cubicBezTo>
                  <a:lnTo>
                    <a:pt x="9420" y="350999"/>
                  </a:lnTo>
                  <a:cubicBezTo>
                    <a:pt x="4218" y="350999"/>
                    <a:pt x="0" y="346781"/>
                    <a:pt x="0" y="341579"/>
                  </a:cubicBezTo>
                  <a:lnTo>
                    <a:pt x="0" y="9420"/>
                  </a:lnTo>
                  <a:cubicBezTo>
                    <a:pt x="0" y="4218"/>
                    <a:pt x="4218" y="0"/>
                    <a:pt x="9420" y="0"/>
                  </a:cubicBezTo>
                  <a:close/>
                </a:path>
              </a:pathLst>
            </a:custGeom>
            <a:solidFill>
              <a:srgbClr val="04001E"/>
            </a:solidFill>
            <a:ln w="38100" cap="sq">
              <a:solidFill>
                <a:srgbClr val="E5E1DA"/>
              </a:solidFill>
              <a:prstDash val="solid"/>
              <a:miter/>
            </a:ln>
          </p:spPr>
        </p:sp>
        <p:sp>
          <p:nvSpPr>
            <p:cNvPr id="35" name="TextBox 35"/>
            <p:cNvSpPr txBox="1"/>
            <p:nvPr/>
          </p:nvSpPr>
          <p:spPr>
            <a:xfrm>
              <a:off x="0" y="-38100"/>
              <a:ext cx="4329006" cy="389099"/>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4674035" y="469600"/>
            <a:ext cx="13568578" cy="1090173"/>
          </a:xfrm>
          <a:prstGeom prst="rect">
            <a:avLst/>
          </a:prstGeom>
        </p:spPr>
        <p:txBody>
          <a:bodyPr lIns="0" tIns="0" rIns="0" bIns="0" rtlCol="0" anchor="t">
            <a:spAutoFit/>
          </a:bodyPr>
          <a:lstStyle/>
          <a:p>
            <a:pPr algn="l">
              <a:lnSpc>
                <a:spcPts val="8051"/>
              </a:lnSpc>
            </a:pPr>
            <a:r>
              <a:rPr lang="en-US" sz="8300">
                <a:solidFill>
                  <a:srgbClr val="FFFFFF"/>
                </a:solidFill>
                <a:latin typeface="Archivo Black"/>
                <a:ea typeface="Archivo Black"/>
                <a:cs typeface="Archivo Black"/>
                <a:sym typeface="Archivo Black"/>
              </a:rPr>
              <a:t>Future Steps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4179953" y="4682588"/>
            <a:ext cx="9245435" cy="1764311"/>
          </a:xfrm>
          <a:prstGeom prst="rect">
            <a:avLst/>
          </a:prstGeom>
        </p:spPr>
        <p:txBody>
          <a:bodyPr lIns="0" tIns="0" rIns="0" bIns="0" rtlCol="0" anchor="t">
            <a:spAutoFit/>
          </a:bodyPr>
          <a:lstStyle/>
          <a:p>
            <a:pPr algn="l">
              <a:lnSpc>
                <a:spcPts val="12699"/>
              </a:lnSpc>
            </a:pPr>
            <a:r>
              <a:rPr lang="en-US" sz="14597">
                <a:solidFill>
                  <a:srgbClr val="FFFFFF"/>
                </a:solidFill>
                <a:latin typeface="Archivo Black"/>
                <a:ea typeface="Archivo Black"/>
                <a:cs typeface="Archivo Black"/>
                <a:sym typeface="Archivo Black"/>
              </a:rPr>
              <a:t>The End</a:t>
            </a:r>
          </a:p>
        </p:txBody>
      </p:sp>
      <p:sp>
        <p:nvSpPr>
          <p:cNvPr id="4" name="Freeform 4"/>
          <p:cNvSpPr/>
          <p:nvPr/>
        </p:nvSpPr>
        <p:spPr>
          <a:xfrm rot="10435729">
            <a:off x="-3241105" y="-2477065"/>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3"/>
            <a:stretch>
              <a:fillRect/>
            </a:stretch>
          </a:blipFill>
        </p:spPr>
      </p:sp>
      <p:sp>
        <p:nvSpPr>
          <p:cNvPr id="5" name="Freeform 5"/>
          <p:cNvSpPr/>
          <p:nvPr/>
        </p:nvSpPr>
        <p:spPr>
          <a:xfrm rot="10435729">
            <a:off x="13120601" y="4487942"/>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1011</Words>
  <Application>Microsoft Office PowerPoint</Application>
  <PresentationFormat>Custom</PresentationFormat>
  <Paragraphs>98</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Red Hat Display</vt:lpstr>
      <vt:lpstr>Calibri</vt:lpstr>
      <vt:lpstr>Archivo Black</vt:lpstr>
      <vt:lpstr>Open Sans Light</vt:lpstr>
      <vt:lpstr>Lato</vt:lpstr>
      <vt:lpstr>Red Hat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Blue and White Project Presentation</dc:title>
  <dc:creator>Kaustubh Sudhakar</dc:creator>
  <cp:lastModifiedBy>Kaustubh Sudhakar</cp:lastModifiedBy>
  <cp:revision>3</cp:revision>
  <dcterms:created xsi:type="dcterms:W3CDTF">2006-08-16T00:00:00Z</dcterms:created>
  <dcterms:modified xsi:type="dcterms:W3CDTF">2026-09-27T11:58:12Z</dcterms:modified>
  <dc:identifier>DAGtgM0_nOI</dc:identifier>
</cp:coreProperties>
</file>